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jp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jp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jp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jp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609600"/>
            <a:ext cx="10668000" cy="342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285875"/>
            <a:ext cx="10668000" cy="31051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609600"/>
            <a:ext cx="528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TECHNICAL PRESENTATION | V1.0.0</a:t>
            </a:r>
            <a:endParaRPr lang="en-US" sz="1050" dirty="0"/>
          </a:p>
        </p:txBody>
      </p:sp>
      <p:sp>
        <p:nvSpPr>
          <p:cNvPr id="7" name="Text 1"/>
          <p:cNvSpPr/>
          <p:nvPr/>
        </p:nvSpPr>
        <p:spPr>
          <a:xfrm>
            <a:off x="10591800" y="609600"/>
            <a:ext cx="17602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LEMAR EDUCA</a:t>
            </a:r>
            <a:endParaRPr lang="en-US" sz="1050" dirty="0"/>
          </a:p>
        </p:txBody>
      </p:sp>
      <p:sp>
        <p:nvSpPr>
          <p:cNvPr id="8" name="Text 2"/>
          <p:cNvSpPr/>
          <p:nvPr/>
        </p:nvSpPr>
        <p:spPr>
          <a:xfrm>
            <a:off x="1219200" y="1285875"/>
            <a:ext cx="1021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spc="-30" kern="0" dirty="0">
                <a:solidFill>
                  <a:srgbClr val="4B55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SISTEMA INTEGRAL DE EVALUACIÓN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1219200" y="1704975"/>
            <a:ext cx="10210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6750"/>
              </a:lnSpc>
              <a:buNone/>
            </a:pPr>
            <a:r>
              <a:rPr lang="en-US" sz="5400" b="1" spc="-216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Análisis de</a:t>
            </a:r>
            <a:pPr indent="0" marL="0">
              <a:lnSpc>
                <a:spcPts val="6750"/>
              </a:lnSpc>
              <a:buNone/>
            </a:pPr>
            <a:r>
              <a:rPr lang="en-US" sz="5400" b="1" spc="-216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6750"/>
              </a:lnSpc>
              <a:buNone/>
            </a:pPr>
            <a:r>
              <a:rPr lang="en-US" sz="5400" b="1" spc="-216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Comprensión Lectora e </a:t>
            </a:r>
            <a:pPr indent="0" marL="0">
              <a:lnSpc>
                <a:spcPts val="6750"/>
              </a:lnSpc>
              <a:buNone/>
            </a:pPr>
            <a:r>
              <a:rPr lang="en-US" sz="5400" b="1" spc="-216" kern="0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IFEL</a:t>
            </a:r>
            <a:endParaRPr lang="en-US" sz="5400" dirty="0"/>
          </a:p>
        </p:txBody>
      </p:sp>
      <p:sp>
        <p:nvSpPr>
          <p:cNvPr id="10" name="Text 4"/>
          <p:cNvSpPr/>
          <p:nvPr/>
        </p:nvSpPr>
        <p:spPr>
          <a:xfrm>
            <a:off x="1219200" y="3648075"/>
            <a:ext cx="7315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 de datos, clasificación de riesgo pedagógico e indicadores de fluidez efectiva mediante arquitectura modular.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295400" y="5153025"/>
            <a:ext cx="30733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72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TECNOLOGÍAS CLAVE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295400" y="5381625"/>
            <a:ext cx="36804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/ MySQL / Pandas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825901" y="5153025"/>
            <a:ext cx="3073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72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MÓDULOS DE SISTEMA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825901" y="5381625"/>
            <a:ext cx="480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Conexión / Análisis / Interfaz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8356550" y="5153025"/>
            <a:ext cx="30733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spc="72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ESTADO DEL MODELO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8356550" y="5381625"/>
            <a:ext cx="38404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B04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Preliminar en Validación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762000" y="6057900"/>
            <a:ext cx="6560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EDUCATIVO BASADO EN EVIDENCIA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0668000" y="6057900"/>
            <a:ext cx="2453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2026-02-28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894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74" y="2422678"/>
            <a:ext cx="6369344" cy="153239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67" y="2695483"/>
            <a:ext cx="250071" cy="2855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796" y="3530709"/>
            <a:ext cx="1586386" cy="18187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5805" y="3530709"/>
            <a:ext cx="1068958" cy="18187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674" y="4197565"/>
            <a:ext cx="6369344" cy="153239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67" y="4470369"/>
            <a:ext cx="250071" cy="28559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796" y="5305596"/>
            <a:ext cx="1142842" cy="18187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2261" y="5305596"/>
            <a:ext cx="1734155" cy="18187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511" y="2269344"/>
            <a:ext cx="1871742" cy="27280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7757" y="2390591"/>
            <a:ext cx="4549464" cy="309876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8380" y="2451214"/>
            <a:ext cx="4428217" cy="297752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674" y="6069898"/>
            <a:ext cx="11282546" cy="33342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4674" y="6297235"/>
            <a:ext cx="60623" cy="60623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54674" y="454674"/>
            <a:ext cx="15171412" cy="45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90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del Proyecto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454674" y="1033081"/>
            <a:ext cx="5819827" cy="9285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7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 de la ingesta de datos desde </a:t>
            </a:r>
            <a:pPr indent="0" marL="0">
              <a:lnSpc>
                <a:spcPts val="2437"/>
              </a:lnSpc>
              <a:buNone/>
            </a:pPr>
            <a:r>
              <a:rPr lang="en-US" sz="150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pPr indent="0" marL="0">
              <a:lnSpc>
                <a:spcPts val="2437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optimización del cálculo del </a:t>
            </a:r>
            <a:pPr indent="0" marL="0">
              <a:lnSpc>
                <a:spcPts val="2437"/>
              </a:lnSpc>
              <a:buNone/>
            </a:pPr>
            <a:r>
              <a:rPr lang="en-US" sz="150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IFEL</a:t>
            </a:r>
            <a:pPr indent="0" marL="0">
              <a:lnSpc>
                <a:spcPts val="2437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una gestión educativa estratégica.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098796" y="2665171"/>
            <a:ext cx="8275329" cy="2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Ingesta y Centralización</a:t>
            </a:r>
            <a:endParaRPr lang="en-US" sz="1800" dirty="0"/>
          </a:p>
        </p:txBody>
      </p:sp>
      <p:sp>
        <p:nvSpPr>
          <p:cNvPr id="19" name="Text 3"/>
          <p:cNvSpPr/>
          <p:nvPr/>
        </p:nvSpPr>
        <p:spPr>
          <a:xfrm>
            <a:off x="1098796" y="2968287"/>
            <a:ext cx="548272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Desarrollar un sistema de conexión en Python para la carga y consulta del </a:t>
            </a:r>
            <a:pPr indent="0" marL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de alumnos</a:t>
            </a:r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evaluados por ciclo escolar.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1189730" y="3530709"/>
            <a:ext cx="2803617" cy="18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5"/>
              </a:lnSpc>
              <a:buNone/>
            </a:pPr>
            <a:r>
              <a:rPr lang="en-US" sz="900" b="1" spc="45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MYSQL LEMAR_LECTURA</a:t>
            </a:r>
            <a:endParaRPr lang="en-US" sz="900" dirty="0"/>
          </a:p>
        </p:txBody>
      </p:sp>
      <p:sp>
        <p:nvSpPr>
          <p:cNvPr id="21" name="Text 5"/>
          <p:cNvSpPr/>
          <p:nvPr/>
        </p:nvSpPr>
        <p:spPr>
          <a:xfrm>
            <a:off x="2836740" y="3530709"/>
            <a:ext cx="1626401" cy="18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5"/>
              </a:lnSpc>
              <a:buNone/>
            </a:pPr>
            <a:r>
              <a:rPr lang="en-US" sz="900" b="1" spc="45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CARGA MASIVA</a:t>
            </a:r>
            <a:endParaRPr lang="en-US" sz="900" dirty="0"/>
          </a:p>
        </p:txBody>
      </p:sp>
      <p:sp>
        <p:nvSpPr>
          <p:cNvPr id="22" name="Text 6"/>
          <p:cNvSpPr/>
          <p:nvPr/>
        </p:nvSpPr>
        <p:spPr>
          <a:xfrm>
            <a:off x="1098796" y="4440057"/>
            <a:ext cx="7585718" cy="24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0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Analítica</a:t>
            </a:r>
            <a:endParaRPr lang="en-US" sz="1800" dirty="0"/>
          </a:p>
        </p:txBody>
      </p:sp>
      <p:sp>
        <p:nvSpPr>
          <p:cNvPr id="23" name="Text 7"/>
          <p:cNvSpPr/>
          <p:nvPr/>
        </p:nvSpPr>
        <p:spPr>
          <a:xfrm>
            <a:off x="1098796" y="4743174"/>
            <a:ext cx="548272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 el cálculo del IFEL para </a:t>
            </a:r>
            <a:pPr indent="0" marL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grados escolares</a:t>
            </a:r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garantizando reportes automáticos en </a:t>
            </a:r>
            <a:pPr indent="0" marL="0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de 5 segundos</a:t>
            </a:r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1189730" y="5305596"/>
            <a:ext cx="1792920" cy="18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5"/>
              </a:lnSpc>
              <a:buNone/>
            </a:pPr>
            <a:r>
              <a:rPr lang="en-US" sz="900" b="1" spc="45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PANDAS ENGINE</a:t>
            </a:r>
            <a:endParaRPr lang="en-US" sz="900" dirty="0"/>
          </a:p>
        </p:txBody>
      </p:sp>
      <p:sp>
        <p:nvSpPr>
          <p:cNvPr id="25" name="Text 9"/>
          <p:cNvSpPr/>
          <p:nvPr/>
        </p:nvSpPr>
        <p:spPr>
          <a:xfrm>
            <a:off x="2393196" y="5305596"/>
            <a:ext cx="3143190" cy="1818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5"/>
              </a:lnSpc>
              <a:buNone/>
            </a:pPr>
            <a:r>
              <a:rPr lang="en-US" sz="900" b="1" spc="45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REPORTE INSTITUCIONAL</a:t>
            </a:r>
            <a:endParaRPr lang="en-US" sz="900" dirty="0"/>
          </a:p>
        </p:txBody>
      </p:sp>
      <p:sp>
        <p:nvSpPr>
          <p:cNvPr id="26" name="Text 10"/>
          <p:cNvSpPr/>
          <p:nvPr/>
        </p:nvSpPr>
        <p:spPr>
          <a:xfrm>
            <a:off x="7187757" y="2269344"/>
            <a:ext cx="3199266" cy="27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9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DE DATOS</a:t>
            </a:r>
            <a:endParaRPr lang="en-US" sz="1050" dirty="0"/>
          </a:p>
        </p:txBody>
      </p:sp>
      <p:sp>
        <p:nvSpPr>
          <p:cNvPr id="27" name="Text 11"/>
          <p:cNvSpPr/>
          <p:nvPr/>
        </p:nvSpPr>
        <p:spPr>
          <a:xfrm>
            <a:off x="3730113" y="5610606"/>
            <a:ext cx="11464752" cy="15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93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Representación de la tabla 'alumnos' en el sistema MySQL.</a:t>
            </a:r>
            <a:endParaRPr lang="en-US" sz="1050" dirty="0"/>
          </a:p>
        </p:txBody>
      </p:sp>
      <p:sp>
        <p:nvSpPr>
          <p:cNvPr id="28" name="Text 12"/>
          <p:cNvSpPr/>
          <p:nvPr/>
        </p:nvSpPr>
        <p:spPr>
          <a:xfrm>
            <a:off x="636544" y="6251768"/>
            <a:ext cx="5229536" cy="15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93"/>
              </a:lnSpc>
              <a:buNone/>
            </a:pPr>
            <a:r>
              <a:rPr lang="en-US" sz="1050" b="1" spc="106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OBJECTIVES FRAMEWORK</a:t>
            </a:r>
            <a:endParaRPr lang="en-US" sz="1050" dirty="0"/>
          </a:p>
        </p:txBody>
      </p:sp>
      <p:sp>
        <p:nvSpPr>
          <p:cNvPr id="29" name="Text 13"/>
          <p:cNvSpPr/>
          <p:nvPr/>
        </p:nvSpPr>
        <p:spPr>
          <a:xfrm>
            <a:off x="9622986" y="6266924"/>
            <a:ext cx="5574335" cy="12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55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PROYECTO: ANALISIS_LECTURA_V1.0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891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25" y="1280993"/>
            <a:ext cx="3647340" cy="376487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75" y="1530943"/>
            <a:ext cx="437412" cy="43741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9" y="1635414"/>
            <a:ext cx="203084" cy="22847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75" y="2655718"/>
            <a:ext cx="984178" cy="2254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75" y="4442347"/>
            <a:ext cx="3147440" cy="35356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2215" y="1280993"/>
            <a:ext cx="3647340" cy="376487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2164" y="1530943"/>
            <a:ext cx="437413" cy="43741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7612" y="1635414"/>
            <a:ext cx="226517" cy="22847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2164" y="2655718"/>
            <a:ext cx="984178" cy="22541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2164" y="4442347"/>
            <a:ext cx="3147440" cy="35356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9504" y="1280993"/>
            <a:ext cx="3647462" cy="376487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9454" y="1530943"/>
            <a:ext cx="437412" cy="43741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09280" y="1635414"/>
            <a:ext cx="257761" cy="22847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19454" y="2655718"/>
            <a:ext cx="671740" cy="22541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9454" y="4442347"/>
            <a:ext cx="3147562" cy="35356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4925" y="5358300"/>
            <a:ext cx="11442041" cy="11247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2387" y="5545763"/>
            <a:ext cx="1499699" cy="749850"/>
          </a:xfrm>
          <a:prstGeom prst="rect">
            <a:avLst/>
          </a:prstGeom>
        </p:spPr>
      </p:pic>
      <p:pic>
        <p:nvPicPr>
          <p:cNvPr id="20" name="Image 18" descr="https://picture-search.skywork.ai/aippt/image/sheet/0033d9ff32a55e3104766d747d30d7b8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2387" y="5545763"/>
            <a:ext cx="1499699" cy="7498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74925" y="374925"/>
            <a:ext cx="16056864" cy="31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60"/>
              </a:lnSpc>
              <a:buNone/>
            </a:pPr>
            <a:r>
              <a:rPr lang="en-US" sz="2700" b="1" spc="-66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Modular del Sistema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374925" y="749850"/>
            <a:ext cx="17060418" cy="218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2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Separación de responsabilidades para escalabilidad y mantenibilidad.</a:t>
            </a:r>
            <a:endParaRPr lang="en-US" sz="1350" dirty="0"/>
          </a:p>
        </p:txBody>
      </p:sp>
      <p:sp>
        <p:nvSpPr>
          <p:cNvPr id="23" name="Text 2"/>
          <p:cNvSpPr/>
          <p:nvPr/>
        </p:nvSpPr>
        <p:spPr>
          <a:xfrm>
            <a:off x="8760168" y="390547"/>
            <a:ext cx="2828198" cy="21089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900" b="1" spc="-44" kern="0" dirty="0">
                <a:solidFill>
                  <a:srgbClr val="333333"/>
                </a:solidFill>
                <a:highlight>
                  <a:srgbClr val="E5E7EB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ARCHITECTURE</a:t>
            </a:r>
            <a:endParaRPr lang="en-US" sz="900" dirty="0"/>
          </a:p>
        </p:txBody>
      </p:sp>
      <p:sp>
        <p:nvSpPr>
          <p:cNvPr id="24" name="Text 3"/>
          <p:cNvSpPr/>
          <p:nvPr/>
        </p:nvSpPr>
        <p:spPr>
          <a:xfrm>
            <a:off x="624875" y="2155818"/>
            <a:ext cx="3147440" cy="12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b="1" spc="8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1</a:t>
            </a:r>
            <a:endParaRPr lang="en-US" sz="900" dirty="0"/>
          </a:p>
        </p:txBody>
      </p:sp>
      <p:sp>
        <p:nvSpPr>
          <p:cNvPr id="25" name="Text 4"/>
          <p:cNvSpPr/>
          <p:nvPr/>
        </p:nvSpPr>
        <p:spPr>
          <a:xfrm>
            <a:off x="624875" y="2312036"/>
            <a:ext cx="3345182" cy="218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2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687362" y="2655718"/>
            <a:ext cx="1762270" cy="2254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conexion.py</a:t>
            </a:r>
            <a:endParaRPr lang="en-US" sz="1020" dirty="0"/>
          </a:p>
        </p:txBody>
      </p:sp>
      <p:sp>
        <p:nvSpPr>
          <p:cNvPr id="27" name="Text 6"/>
          <p:cNvSpPr/>
          <p:nvPr/>
        </p:nvSpPr>
        <p:spPr>
          <a:xfrm>
            <a:off x="624875" y="3006111"/>
            <a:ext cx="3147440" cy="124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Gestiona la conexión segura con la base de datos MySQL </a:t>
            </a:r>
            <a:pPr indent="0" marL="0">
              <a:lnSpc>
                <a:spcPts val="984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lemar_lectura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Encapsula la configuración del host y credenciales.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624875" y="4621998"/>
            <a:ext cx="836293" cy="14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</a:t>
            </a:r>
            <a:endParaRPr lang="en-US" sz="900" dirty="0"/>
          </a:p>
        </p:txBody>
      </p:sp>
      <p:sp>
        <p:nvSpPr>
          <p:cNvPr id="29" name="Text 8"/>
          <p:cNvSpPr/>
          <p:nvPr/>
        </p:nvSpPr>
        <p:spPr>
          <a:xfrm>
            <a:off x="1085720" y="4621998"/>
            <a:ext cx="2508879" cy="14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mysql.connector</a:t>
            </a:r>
            <a:endParaRPr lang="en-US" sz="900" dirty="0"/>
          </a:p>
        </p:txBody>
      </p:sp>
      <p:sp>
        <p:nvSpPr>
          <p:cNvPr id="30" name="Text 9"/>
          <p:cNvSpPr/>
          <p:nvPr/>
        </p:nvSpPr>
        <p:spPr>
          <a:xfrm>
            <a:off x="4522164" y="2155818"/>
            <a:ext cx="3147440" cy="12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b="1" spc="88" kern="0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2</a:t>
            </a:r>
            <a:endParaRPr lang="en-US" sz="900" dirty="0"/>
          </a:p>
        </p:txBody>
      </p:sp>
      <p:sp>
        <p:nvSpPr>
          <p:cNvPr id="31" name="Text 10"/>
          <p:cNvSpPr/>
          <p:nvPr/>
        </p:nvSpPr>
        <p:spPr>
          <a:xfrm>
            <a:off x="4522164" y="2312036"/>
            <a:ext cx="3623947" cy="218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2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Procesamiento</a:t>
            </a:r>
            <a:endParaRPr lang="en-US" sz="1500" dirty="0"/>
          </a:p>
        </p:txBody>
      </p:sp>
      <p:sp>
        <p:nvSpPr>
          <p:cNvPr id="32" name="Text 11"/>
          <p:cNvSpPr/>
          <p:nvPr/>
        </p:nvSpPr>
        <p:spPr>
          <a:xfrm>
            <a:off x="4584652" y="2655718"/>
            <a:ext cx="1762270" cy="2254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analisis.py</a:t>
            </a:r>
            <a:endParaRPr lang="en-US" sz="1020" dirty="0"/>
          </a:p>
        </p:txBody>
      </p:sp>
      <p:sp>
        <p:nvSpPr>
          <p:cNvPr id="33" name="Text 12"/>
          <p:cNvSpPr/>
          <p:nvPr/>
        </p:nvSpPr>
        <p:spPr>
          <a:xfrm>
            <a:off x="4522164" y="3006111"/>
            <a:ext cx="3147440" cy="124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del sistema. Implementa la lógica de negocio: limpieza de datos, clasificación de riesgo y cálculo del motor IFEL.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4522164" y="4621998"/>
            <a:ext cx="836293" cy="14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4983010" y="4621998"/>
            <a:ext cx="3177914" cy="14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(DataFrames)</a:t>
            </a:r>
            <a:endParaRPr lang="en-US" sz="900" dirty="0"/>
          </a:p>
        </p:txBody>
      </p:sp>
      <p:sp>
        <p:nvSpPr>
          <p:cNvPr id="36" name="Text 15"/>
          <p:cNvSpPr/>
          <p:nvPr/>
        </p:nvSpPr>
        <p:spPr>
          <a:xfrm>
            <a:off x="8419454" y="2155818"/>
            <a:ext cx="3147562" cy="12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b="1" spc="88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 3</a:t>
            </a:r>
            <a:endParaRPr lang="en-US" sz="900" dirty="0"/>
          </a:p>
        </p:txBody>
      </p:sp>
      <p:sp>
        <p:nvSpPr>
          <p:cNvPr id="37" name="Text 16"/>
          <p:cNvSpPr/>
          <p:nvPr/>
        </p:nvSpPr>
        <p:spPr>
          <a:xfrm>
            <a:off x="8419454" y="2312036"/>
            <a:ext cx="3147562" cy="2187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22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Interfaz</a:t>
            </a:r>
            <a:endParaRPr lang="en-US" sz="1500" dirty="0"/>
          </a:p>
        </p:txBody>
      </p:sp>
      <p:sp>
        <p:nvSpPr>
          <p:cNvPr id="38" name="Text 17"/>
          <p:cNvSpPr/>
          <p:nvPr/>
        </p:nvSpPr>
        <p:spPr>
          <a:xfrm>
            <a:off x="8481942" y="2655718"/>
            <a:ext cx="1025876" cy="2254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4B55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main.py</a:t>
            </a:r>
            <a:endParaRPr lang="en-US" sz="1020" dirty="0"/>
          </a:p>
        </p:txBody>
      </p:sp>
      <p:sp>
        <p:nvSpPr>
          <p:cNvPr id="39" name="Text 18"/>
          <p:cNvSpPr/>
          <p:nvPr/>
        </p:nvSpPr>
        <p:spPr>
          <a:xfrm>
            <a:off x="8419454" y="3006111"/>
            <a:ext cx="3147562" cy="124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Orquestador del sistema. Presenta un menú interactivo en consola (CLI) para la consulta de reportes y ejecución de análisis.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8419454" y="4621998"/>
            <a:ext cx="836293" cy="14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TECH:</a:t>
            </a:r>
            <a:endParaRPr lang="en-US" sz="900" dirty="0"/>
          </a:p>
        </p:txBody>
      </p:sp>
      <p:sp>
        <p:nvSpPr>
          <p:cNvPr id="41" name="Text 20"/>
          <p:cNvSpPr/>
          <p:nvPr/>
        </p:nvSpPr>
        <p:spPr>
          <a:xfrm>
            <a:off x="8880299" y="4621998"/>
            <a:ext cx="2341621" cy="14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 CLI UI</a:t>
            </a:r>
            <a:endParaRPr lang="en-US" sz="900" dirty="0"/>
          </a:p>
        </p:txBody>
      </p:sp>
      <p:sp>
        <p:nvSpPr>
          <p:cNvPr id="42" name="Text 21"/>
          <p:cNvSpPr/>
          <p:nvPr/>
        </p:nvSpPr>
        <p:spPr>
          <a:xfrm>
            <a:off x="2312036" y="5669761"/>
            <a:ext cx="7708415" cy="15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Datos</a:t>
            </a:r>
            <a:endParaRPr lang="en-US" sz="1050" dirty="0"/>
          </a:p>
        </p:txBody>
      </p:sp>
      <p:sp>
        <p:nvSpPr>
          <p:cNvPr id="43" name="Text 22"/>
          <p:cNvSpPr/>
          <p:nvPr/>
        </p:nvSpPr>
        <p:spPr>
          <a:xfrm>
            <a:off x="2312036" y="5857224"/>
            <a:ext cx="7708415" cy="314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7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fluye desde el archivo CSV hacia MySQL, procesado por Pandas y visualizado en el Menú Principal. Cada etapa garantiza la integridad de la métrica educativa final.</a:t>
            </a:r>
            <a:endParaRPr lang="en-US" sz="900" dirty="0"/>
          </a:p>
        </p:txBody>
      </p:sp>
      <p:sp>
        <p:nvSpPr>
          <p:cNvPr id="44" name="Text 23"/>
          <p:cNvSpPr/>
          <p:nvPr/>
        </p:nvSpPr>
        <p:spPr>
          <a:xfrm>
            <a:off x="10395376" y="5786803"/>
            <a:ext cx="1003552" cy="12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900" dirty="0"/>
          </a:p>
        </p:txBody>
      </p:sp>
      <p:sp>
        <p:nvSpPr>
          <p:cNvPr id="45" name="Text 24"/>
          <p:cNvSpPr/>
          <p:nvPr/>
        </p:nvSpPr>
        <p:spPr>
          <a:xfrm>
            <a:off x="10270401" y="5911778"/>
            <a:ext cx="1393820" cy="14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</a:t>
            </a:r>
            <a:endParaRPr lang="en-US" sz="750" dirty="0"/>
          </a:p>
        </p:txBody>
      </p:sp>
      <p:sp>
        <p:nvSpPr>
          <p:cNvPr id="46" name="Text 25"/>
          <p:cNvSpPr/>
          <p:nvPr/>
        </p:nvSpPr>
        <p:spPr>
          <a:xfrm>
            <a:off x="11129604" y="5786803"/>
            <a:ext cx="613282" cy="12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84"/>
              </a:lnSpc>
              <a:buNone/>
            </a:pPr>
            <a:r>
              <a:rPr lang="en-US" sz="90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&lt;5s</a:t>
            </a:r>
            <a:endParaRPr lang="en-US" sz="900" dirty="0"/>
          </a:p>
        </p:txBody>
      </p:sp>
      <p:sp>
        <p:nvSpPr>
          <p:cNvPr id="47" name="Text 26"/>
          <p:cNvSpPr/>
          <p:nvPr/>
        </p:nvSpPr>
        <p:spPr>
          <a:xfrm>
            <a:off x="10965575" y="5911778"/>
            <a:ext cx="1254438" cy="1427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21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09" y="1599756"/>
            <a:ext cx="3249654" cy="99219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09" y="1599756"/>
            <a:ext cx="3249654" cy="28875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596" y="1691633"/>
            <a:ext cx="85315" cy="1050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167" y="1599756"/>
            <a:ext cx="3249757" cy="99219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2167" y="1599756"/>
            <a:ext cx="3249757" cy="28875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1919" y="1691633"/>
            <a:ext cx="131254" cy="10500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7170" y="1993517"/>
            <a:ext cx="3039751" cy="24671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009" y="2749455"/>
            <a:ext cx="6656916" cy="425159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009" y="2749455"/>
            <a:ext cx="6656916" cy="5698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7227" y="2929314"/>
            <a:ext cx="229694" cy="21000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513" y="4248515"/>
            <a:ext cx="3065899" cy="24671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8418" y="3660540"/>
            <a:ext cx="3066002" cy="246716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48418" y="3907255"/>
            <a:ext cx="3066002" cy="24671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48418" y="4153971"/>
            <a:ext cx="3066002" cy="246716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009" y="4899450"/>
            <a:ext cx="6656916" cy="31500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81930" y="1599756"/>
            <a:ext cx="4694982" cy="408875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4432" y="1652257"/>
            <a:ext cx="4589979" cy="326596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27207" y="1731009"/>
            <a:ext cx="518452" cy="169092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4432" y="2031354"/>
            <a:ext cx="4589979" cy="3604654"/>
          </a:xfrm>
          <a:prstGeom prst="rect">
            <a:avLst/>
          </a:prstGeom>
        </p:spPr>
      </p:pic>
      <p:pic>
        <p:nvPicPr>
          <p:cNvPr id="22" name="Image 20" descr="https://picture-search.skywork.ai/aippt/image/sheet/81203c7ecf66bb2ac59ef8480f5e325d.jp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34432" y="2031354"/>
            <a:ext cx="4589979" cy="3604654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81930" y="5846015"/>
            <a:ext cx="4694982" cy="1155031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39435" y="6213525"/>
            <a:ext cx="262507" cy="262507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375529" y="6252901"/>
            <a:ext cx="190318" cy="183755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39435" y="6581035"/>
            <a:ext cx="262507" cy="262507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88654" y="6620411"/>
            <a:ext cx="164067" cy="183754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5009" y="7211052"/>
            <a:ext cx="11561904" cy="247844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15009" y="315009"/>
            <a:ext cx="16722090" cy="26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67"/>
              </a:lnSpc>
              <a:buNone/>
            </a:pPr>
            <a:r>
              <a:rPr lang="en-US" sz="2700" b="1" spc="-7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de Clases y Datos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315009" y="630017"/>
            <a:ext cx="5880161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Organización de la lógica de negocio centrada en la clase </a:t>
            </a:r>
            <a:pPr indent="0" marL="0">
              <a:lnSpc>
                <a:spcPts val="1240"/>
              </a:lnSpc>
              <a:buNone/>
            </a:pPr>
            <a:r>
              <a:rPr lang="en-US" sz="1200" b="1" dirty="0">
                <a:solidFill>
                  <a:srgbClr val="B04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AnalisisLector</a:t>
            </a:r>
            <a:pPr indent="0" marL="0">
              <a:lnSpc>
                <a:spcPts val="1856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integrando persistencia y procesamiento de DataFrames.</a:t>
            </a:r>
            <a:endParaRPr lang="en-US" sz="1350" dirty="0"/>
          </a:p>
        </p:txBody>
      </p:sp>
      <p:sp>
        <p:nvSpPr>
          <p:cNvPr id="31" name="Text 2"/>
          <p:cNvSpPr/>
          <p:nvPr/>
        </p:nvSpPr>
        <p:spPr>
          <a:xfrm>
            <a:off x="393761" y="1678508"/>
            <a:ext cx="3716012" cy="13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3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MÓDULO: CONEXION</a:t>
            </a:r>
            <a:endParaRPr lang="en-US" sz="1050" dirty="0"/>
          </a:p>
        </p:txBody>
      </p:sp>
      <p:sp>
        <p:nvSpPr>
          <p:cNvPr id="32" name="Text 3"/>
          <p:cNvSpPr/>
          <p:nvPr/>
        </p:nvSpPr>
        <p:spPr>
          <a:xfrm>
            <a:off x="420011" y="1993517"/>
            <a:ext cx="5414775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conectar(): Connection</a:t>
            </a:r>
            <a:endParaRPr lang="en-US" sz="1020" dirty="0"/>
          </a:p>
        </p:txBody>
      </p:sp>
      <p:sp>
        <p:nvSpPr>
          <p:cNvPr id="33" name="Text 4"/>
          <p:cNvSpPr/>
          <p:nvPr/>
        </p:nvSpPr>
        <p:spPr>
          <a:xfrm>
            <a:off x="3800919" y="1678508"/>
            <a:ext cx="2787009" cy="13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3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MÓDULO: MAIN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3827170" y="1993517"/>
            <a:ext cx="3609850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mostrar_menu()</a:t>
            </a:r>
            <a:endParaRPr lang="en-US" sz="1020" dirty="0"/>
          </a:p>
        </p:txBody>
      </p:sp>
      <p:sp>
        <p:nvSpPr>
          <p:cNvPr id="35" name="Text 6"/>
          <p:cNvSpPr/>
          <p:nvPr/>
        </p:nvSpPr>
        <p:spPr>
          <a:xfrm>
            <a:off x="3827170" y="2240232"/>
            <a:ext cx="3039751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main()</a:t>
            </a:r>
            <a:endParaRPr lang="en-US" sz="1020" dirty="0"/>
          </a:p>
        </p:txBody>
      </p:sp>
      <p:sp>
        <p:nvSpPr>
          <p:cNvPr id="36" name="Text 7"/>
          <p:cNvSpPr/>
          <p:nvPr/>
        </p:nvSpPr>
        <p:spPr>
          <a:xfrm>
            <a:off x="420011" y="2841333"/>
            <a:ext cx="6270784" cy="2296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Clase: AnalisisLector</a:t>
            </a:r>
            <a:endParaRPr lang="en-US" sz="1350" dirty="0"/>
          </a:p>
        </p:txBody>
      </p:sp>
      <p:sp>
        <p:nvSpPr>
          <p:cNvPr id="37" name="Text 8"/>
          <p:cNvSpPr/>
          <p:nvPr/>
        </p:nvSpPr>
        <p:spPr>
          <a:xfrm>
            <a:off x="420011" y="3109274"/>
            <a:ext cx="4578676" cy="1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b="1" spc="10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NÚCLEO DE PROCESAMIENTO</a:t>
            </a:r>
            <a:endParaRPr lang="en-US" sz="900" dirty="0"/>
          </a:p>
        </p:txBody>
      </p:sp>
      <p:sp>
        <p:nvSpPr>
          <p:cNvPr id="38" name="Text 9"/>
          <p:cNvSpPr/>
          <p:nvPr/>
        </p:nvSpPr>
        <p:spPr>
          <a:xfrm>
            <a:off x="472513" y="3476785"/>
            <a:ext cx="3065899" cy="1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b="1" spc="10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ATRIBUTOS</a:t>
            </a:r>
            <a:endParaRPr lang="en-US" sz="900" dirty="0"/>
          </a:p>
        </p:txBody>
      </p:sp>
      <p:sp>
        <p:nvSpPr>
          <p:cNvPr id="39" name="Text 10"/>
          <p:cNvSpPr/>
          <p:nvPr/>
        </p:nvSpPr>
        <p:spPr>
          <a:xfrm>
            <a:off x="472513" y="3660540"/>
            <a:ext cx="4963544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df: pandas.DataFrame</a:t>
            </a:r>
            <a:endParaRPr lang="en-US" sz="1020" dirty="0"/>
          </a:p>
        </p:txBody>
      </p:sp>
      <p:sp>
        <p:nvSpPr>
          <p:cNvPr id="40" name="Text 11"/>
          <p:cNvSpPr/>
          <p:nvPr/>
        </p:nvSpPr>
        <p:spPr>
          <a:xfrm>
            <a:off x="472513" y="4064760"/>
            <a:ext cx="3185166" cy="1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b="1" spc="10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DE CARGA</a:t>
            </a:r>
            <a:endParaRPr lang="en-US" sz="900" dirty="0"/>
          </a:p>
        </p:txBody>
      </p:sp>
      <p:sp>
        <p:nvSpPr>
          <p:cNvPr id="41" name="Text 12"/>
          <p:cNvSpPr/>
          <p:nvPr/>
        </p:nvSpPr>
        <p:spPr>
          <a:xfrm>
            <a:off x="472513" y="4248515"/>
            <a:ext cx="3609850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cargar_datos()</a:t>
            </a:r>
            <a:endParaRPr lang="en-US" sz="1020" dirty="0"/>
          </a:p>
        </p:txBody>
      </p:sp>
      <p:sp>
        <p:nvSpPr>
          <p:cNvPr id="42" name="Text 13"/>
          <p:cNvSpPr/>
          <p:nvPr/>
        </p:nvSpPr>
        <p:spPr>
          <a:xfrm>
            <a:off x="472513" y="4495231"/>
            <a:ext cx="6091622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estadistica_descriptiva()</a:t>
            </a:r>
            <a:endParaRPr lang="en-US" sz="1020" dirty="0"/>
          </a:p>
        </p:txBody>
      </p:sp>
      <p:sp>
        <p:nvSpPr>
          <p:cNvPr id="43" name="Text 14"/>
          <p:cNvSpPr/>
          <p:nvPr/>
        </p:nvSpPr>
        <p:spPr>
          <a:xfrm>
            <a:off x="3748418" y="3476785"/>
            <a:ext cx="3384239" cy="1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b="1" spc="10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DE NEGOCIO</a:t>
            </a:r>
            <a:endParaRPr lang="en-US" sz="900" dirty="0"/>
          </a:p>
        </p:txBody>
      </p:sp>
      <p:sp>
        <p:nvSpPr>
          <p:cNvPr id="44" name="Text 15"/>
          <p:cNvSpPr/>
          <p:nvPr/>
        </p:nvSpPr>
        <p:spPr>
          <a:xfrm>
            <a:off x="3748418" y="3660540"/>
            <a:ext cx="4737928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clasificar_riesgo()</a:t>
            </a:r>
            <a:endParaRPr lang="en-US" sz="1020" dirty="0"/>
          </a:p>
        </p:txBody>
      </p:sp>
      <p:sp>
        <p:nvSpPr>
          <p:cNvPr id="45" name="Text 16"/>
          <p:cNvSpPr/>
          <p:nvPr/>
        </p:nvSpPr>
        <p:spPr>
          <a:xfrm>
            <a:off x="3748418" y="3907255"/>
            <a:ext cx="3835466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calcular_ifel()</a:t>
            </a:r>
            <a:endParaRPr lang="en-US" sz="1020" dirty="0"/>
          </a:p>
        </p:txBody>
      </p:sp>
      <p:sp>
        <p:nvSpPr>
          <p:cNvPr id="46" name="Text 17"/>
          <p:cNvSpPr/>
          <p:nvPr/>
        </p:nvSpPr>
        <p:spPr>
          <a:xfrm>
            <a:off x="3748418" y="4153971"/>
            <a:ext cx="4963544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analisis_por_grado()</a:t>
            </a:r>
            <a:endParaRPr lang="en-US" sz="1020" dirty="0"/>
          </a:p>
        </p:txBody>
      </p:sp>
      <p:sp>
        <p:nvSpPr>
          <p:cNvPr id="47" name="Text 18"/>
          <p:cNvSpPr/>
          <p:nvPr/>
        </p:nvSpPr>
        <p:spPr>
          <a:xfrm>
            <a:off x="3748418" y="4400687"/>
            <a:ext cx="3609850" cy="24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1F29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reporte_ifel()</a:t>
            </a:r>
            <a:endParaRPr lang="en-US" sz="1020" dirty="0"/>
          </a:p>
        </p:txBody>
      </p:sp>
      <p:sp>
        <p:nvSpPr>
          <p:cNvPr id="48" name="Text 19"/>
          <p:cNvSpPr/>
          <p:nvPr/>
        </p:nvSpPr>
        <p:spPr>
          <a:xfrm>
            <a:off x="420011" y="4899450"/>
            <a:ext cx="12473905" cy="31500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Encapsula la manipulación de datos mediante la librería Pandas.</a:t>
            </a:r>
            <a:endParaRPr lang="en-US" sz="900" dirty="0"/>
          </a:p>
        </p:txBody>
      </p:sp>
      <p:sp>
        <p:nvSpPr>
          <p:cNvPr id="49" name="Text 20"/>
          <p:cNvSpPr/>
          <p:nvPr/>
        </p:nvSpPr>
        <p:spPr>
          <a:xfrm>
            <a:off x="7313184" y="1763002"/>
            <a:ext cx="7365697" cy="1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b="1" spc="105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 DE IMPLEMENTACIÓN (ANALISIS.PY)</a:t>
            </a:r>
            <a:endParaRPr lang="en-US" sz="900" dirty="0"/>
          </a:p>
        </p:txBody>
      </p:sp>
      <p:sp>
        <p:nvSpPr>
          <p:cNvPr id="50" name="Text 21"/>
          <p:cNvSpPr/>
          <p:nvPr/>
        </p:nvSpPr>
        <p:spPr>
          <a:xfrm>
            <a:off x="11279708" y="1731009"/>
            <a:ext cx="702774" cy="16909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750" dirty="0"/>
          </a:p>
        </p:txBody>
      </p:sp>
      <p:sp>
        <p:nvSpPr>
          <p:cNvPr id="51" name="Text 22"/>
          <p:cNvSpPr/>
          <p:nvPr/>
        </p:nvSpPr>
        <p:spPr>
          <a:xfrm>
            <a:off x="7339435" y="6003519"/>
            <a:ext cx="4379973" cy="1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b="1" spc="105" kern="0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 DE DATOS</a:t>
            </a:r>
            <a:endParaRPr lang="en-US" sz="900" dirty="0"/>
          </a:p>
        </p:txBody>
      </p:sp>
      <p:sp>
        <p:nvSpPr>
          <p:cNvPr id="52" name="Text 23"/>
          <p:cNvSpPr/>
          <p:nvPr/>
        </p:nvSpPr>
        <p:spPr>
          <a:xfrm>
            <a:off x="7706945" y="6226650"/>
            <a:ext cx="3948263" cy="13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3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DataFrames</a:t>
            </a:r>
            <a:endParaRPr lang="en-US" sz="1050" dirty="0"/>
          </a:p>
        </p:txBody>
      </p:sp>
      <p:sp>
        <p:nvSpPr>
          <p:cNvPr id="53" name="Text 24"/>
          <p:cNvSpPr/>
          <p:nvPr/>
        </p:nvSpPr>
        <p:spPr>
          <a:xfrm>
            <a:off x="7706945" y="6357904"/>
            <a:ext cx="7763842" cy="1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Estandarización de columnas y limpieza.</a:t>
            </a:r>
            <a:endParaRPr lang="en-US" sz="900" dirty="0"/>
          </a:p>
        </p:txBody>
      </p:sp>
      <p:sp>
        <p:nvSpPr>
          <p:cNvPr id="54" name="Text 25"/>
          <p:cNvSpPr/>
          <p:nvPr/>
        </p:nvSpPr>
        <p:spPr>
          <a:xfrm>
            <a:off x="7706945" y="6594160"/>
            <a:ext cx="3948263" cy="1312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33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Integration</a:t>
            </a:r>
            <a:endParaRPr lang="en-US" sz="1050" dirty="0"/>
          </a:p>
        </p:txBody>
      </p:sp>
      <p:sp>
        <p:nvSpPr>
          <p:cNvPr id="55" name="Text 26"/>
          <p:cNvSpPr/>
          <p:nvPr/>
        </p:nvSpPr>
        <p:spPr>
          <a:xfrm>
            <a:off x="7706945" y="6725414"/>
            <a:ext cx="7564769" cy="1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Extracción segura desde lemar_lectura.</a:t>
            </a:r>
            <a:endParaRPr lang="en-US" sz="900" dirty="0"/>
          </a:p>
        </p:txBody>
      </p:sp>
      <p:sp>
        <p:nvSpPr>
          <p:cNvPr id="56" name="Text 27"/>
          <p:cNvSpPr/>
          <p:nvPr/>
        </p:nvSpPr>
        <p:spPr>
          <a:xfrm>
            <a:off x="315009" y="7334923"/>
            <a:ext cx="6768478" cy="1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27"/>
              </a:lnSpc>
              <a:buNone/>
            </a:pPr>
            <a:r>
              <a:rPr lang="en-US" sz="900" b="1" spc="105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DE SOFTWARE EDUCATIVO</a:t>
            </a:r>
            <a:endParaRPr lang="en-US" sz="900" dirty="0"/>
          </a:p>
        </p:txBody>
      </p:sp>
      <p:sp>
        <p:nvSpPr>
          <p:cNvPr id="57" name="Text 28"/>
          <p:cNvSpPr/>
          <p:nvPr/>
        </p:nvSpPr>
        <p:spPr>
          <a:xfrm>
            <a:off x="9278091" y="7316055"/>
            <a:ext cx="7299331" cy="1428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Diagram Reference: AnálisisLector Core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48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14" y="1108061"/>
            <a:ext cx="2162895" cy="15683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52" y="1265286"/>
            <a:ext cx="202146" cy="22846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1900" y="1108061"/>
            <a:ext cx="2162895" cy="15683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1637" y="1265286"/>
            <a:ext cx="232094" cy="22846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4585" y="1108061"/>
            <a:ext cx="2162895" cy="156838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4323" y="1265286"/>
            <a:ext cx="172199" cy="22846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7270" y="1108061"/>
            <a:ext cx="2162895" cy="156838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47008" y="1265286"/>
            <a:ext cx="232094" cy="22846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79956" y="1108061"/>
            <a:ext cx="2162895" cy="156838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29694" y="1265286"/>
            <a:ext cx="254555" cy="22846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214" y="2916030"/>
            <a:ext cx="11293519" cy="334301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900" y="3133969"/>
            <a:ext cx="5347284" cy="290714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5764" y="3271307"/>
            <a:ext cx="5347283" cy="79758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5555" y="3445494"/>
            <a:ext cx="112304" cy="11979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5764" y="4188686"/>
            <a:ext cx="5347283" cy="79758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5555" y="4362874"/>
            <a:ext cx="112304" cy="11979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5764" y="5106065"/>
            <a:ext cx="5347283" cy="797589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5555" y="5280253"/>
            <a:ext cx="112304" cy="11979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49214" y="299476"/>
            <a:ext cx="20939760" cy="29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58"/>
              </a:lnSpc>
              <a:buNone/>
            </a:pPr>
            <a:r>
              <a:rPr lang="en-US" sz="2700" b="1" spc="-69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Procesamiento y Funcionalidades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449214" y="658847"/>
            <a:ext cx="29053917" cy="2096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51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 técnica de transformación: desde la extracción en </a:t>
            </a:r>
            <a:pPr indent="0" marL="0">
              <a:lnSpc>
                <a:spcPts val="1651"/>
              </a:lnSpc>
              <a:buNone/>
            </a:pPr>
            <a:r>
              <a:rPr lang="en-US" sz="135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pPr indent="0" marL="0">
              <a:lnSpc>
                <a:spcPts val="1651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hasta la generación de </a:t>
            </a:r>
            <a:pPr indent="0" marL="0">
              <a:lnSpc>
                <a:spcPts val="1651"/>
              </a:lnSpc>
              <a:buNone/>
            </a:pPr>
            <a:r>
              <a:rPr lang="en-US" sz="135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reportes estratégicos</a:t>
            </a:r>
            <a:pPr indent="0" marL="0">
              <a:lnSpc>
                <a:spcPts val="1651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23" name="Text 2"/>
          <p:cNvSpPr/>
          <p:nvPr/>
        </p:nvSpPr>
        <p:spPr>
          <a:xfrm>
            <a:off x="598952" y="1587223"/>
            <a:ext cx="2782272" cy="14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1050" b="1" spc="53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EXTRACCIÓN</a:t>
            </a:r>
            <a:endParaRPr lang="en-US" sz="1050" dirty="0"/>
          </a:p>
        </p:txBody>
      </p:sp>
      <p:sp>
        <p:nvSpPr>
          <p:cNvPr id="24" name="Text 3"/>
          <p:cNvSpPr/>
          <p:nvPr/>
        </p:nvSpPr>
        <p:spPr>
          <a:xfrm>
            <a:off x="598952" y="1796856"/>
            <a:ext cx="1863419" cy="4713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desde tabla 'alumnos', limpieza y estandarización de columnas.</a:t>
            </a:r>
            <a:endParaRPr lang="en-US" sz="900" dirty="0"/>
          </a:p>
        </p:txBody>
      </p:sp>
      <p:sp>
        <p:nvSpPr>
          <p:cNvPr id="25" name="Text 4"/>
          <p:cNvSpPr/>
          <p:nvPr/>
        </p:nvSpPr>
        <p:spPr>
          <a:xfrm>
            <a:off x="643873" y="2328075"/>
            <a:ext cx="2027865" cy="18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4B5563"/>
                </a:solidFill>
                <a:highlight>
                  <a:srgbClr val="F3F4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cargar_datos()</a:t>
            </a:r>
            <a:endParaRPr lang="en-US" sz="840" dirty="0"/>
          </a:p>
        </p:txBody>
      </p:sp>
      <p:sp>
        <p:nvSpPr>
          <p:cNvPr id="26" name="Text 5"/>
          <p:cNvSpPr/>
          <p:nvPr/>
        </p:nvSpPr>
        <p:spPr>
          <a:xfrm>
            <a:off x="2881637" y="1587223"/>
            <a:ext cx="3393015" cy="14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1050" b="1" spc="53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CLASIFICACIÓN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2881637" y="1796856"/>
            <a:ext cx="1863419" cy="31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condicional para asignar niveles de riesgo (Crítico a Bajo).</a:t>
            </a:r>
            <a:endParaRPr lang="en-US" sz="900" dirty="0"/>
          </a:p>
        </p:txBody>
      </p:sp>
      <p:sp>
        <p:nvSpPr>
          <p:cNvPr id="28" name="Text 7"/>
          <p:cNvSpPr/>
          <p:nvPr/>
        </p:nvSpPr>
        <p:spPr>
          <a:xfrm>
            <a:off x="2926559" y="2170967"/>
            <a:ext cx="2836282" cy="18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4B5563"/>
                </a:solidFill>
                <a:highlight>
                  <a:srgbClr val="F3F4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clasificar_riesgo()</a:t>
            </a:r>
            <a:endParaRPr lang="en-US" sz="840" dirty="0"/>
          </a:p>
        </p:txBody>
      </p:sp>
      <p:sp>
        <p:nvSpPr>
          <p:cNvPr id="29" name="Text 8"/>
          <p:cNvSpPr/>
          <p:nvPr/>
        </p:nvSpPr>
        <p:spPr>
          <a:xfrm>
            <a:off x="5164323" y="1587223"/>
            <a:ext cx="3189434" cy="14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1050" b="1" spc="53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CÁLCULO IFEL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5164323" y="1796856"/>
            <a:ext cx="1863419" cy="4713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del Factor de Fluidez sobre el porcentaje de comprensión.</a:t>
            </a:r>
            <a:endParaRPr lang="en-US" sz="900" dirty="0"/>
          </a:p>
        </p:txBody>
      </p:sp>
      <p:sp>
        <p:nvSpPr>
          <p:cNvPr id="31" name="Text 10"/>
          <p:cNvSpPr/>
          <p:nvPr/>
        </p:nvSpPr>
        <p:spPr>
          <a:xfrm>
            <a:off x="5209244" y="2328075"/>
            <a:ext cx="2189259" cy="18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4B5563"/>
                </a:solidFill>
                <a:highlight>
                  <a:srgbClr val="F3F4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calcular_ifel()</a:t>
            </a:r>
            <a:endParaRPr lang="en-US" sz="840" dirty="0"/>
          </a:p>
        </p:txBody>
      </p:sp>
      <p:sp>
        <p:nvSpPr>
          <p:cNvPr id="32" name="Text 11"/>
          <p:cNvSpPr/>
          <p:nvPr/>
        </p:nvSpPr>
        <p:spPr>
          <a:xfrm>
            <a:off x="7447008" y="1587223"/>
            <a:ext cx="2375110" cy="14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1050" b="1" spc="53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ANÁLISIS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7447008" y="1796856"/>
            <a:ext cx="1863419" cy="4713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Estadística descriptiva y correlación velocidad vs comprensión.</a:t>
            </a:r>
            <a:endParaRPr lang="en-US" sz="900" dirty="0"/>
          </a:p>
        </p:txBody>
      </p:sp>
      <p:sp>
        <p:nvSpPr>
          <p:cNvPr id="34" name="Text 13"/>
          <p:cNvSpPr/>
          <p:nvPr/>
        </p:nvSpPr>
        <p:spPr>
          <a:xfrm>
            <a:off x="7491930" y="2328075"/>
            <a:ext cx="3809344" cy="18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4B5563"/>
                </a:solidFill>
                <a:highlight>
                  <a:srgbClr val="F3F4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estadistica_descriptiva()</a:t>
            </a:r>
            <a:endParaRPr lang="en-US" sz="840" dirty="0"/>
          </a:p>
        </p:txBody>
      </p:sp>
      <p:sp>
        <p:nvSpPr>
          <p:cNvPr id="35" name="Text 14"/>
          <p:cNvSpPr/>
          <p:nvPr/>
        </p:nvSpPr>
        <p:spPr>
          <a:xfrm>
            <a:off x="9729694" y="1587223"/>
            <a:ext cx="2578691" cy="149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1050" b="1" spc="53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REPORTING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9729694" y="1796856"/>
            <a:ext cx="1863418" cy="31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Generación de rankings (Top N) y alertas por grado/sección.</a:t>
            </a:r>
            <a:endParaRPr lang="en-US" sz="900" dirty="0"/>
          </a:p>
        </p:txBody>
      </p:sp>
      <p:sp>
        <p:nvSpPr>
          <p:cNvPr id="37" name="Text 16"/>
          <p:cNvSpPr/>
          <p:nvPr/>
        </p:nvSpPr>
        <p:spPr>
          <a:xfrm>
            <a:off x="9774615" y="2170967"/>
            <a:ext cx="2027865" cy="18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4B5563"/>
                </a:solidFill>
                <a:highlight>
                  <a:srgbClr val="F3F4F6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reporte_ifel()</a:t>
            </a:r>
            <a:endParaRPr lang="en-US" sz="840" dirty="0"/>
          </a:p>
        </p:txBody>
      </p:sp>
      <p:sp>
        <p:nvSpPr>
          <p:cNvPr id="38" name="Text 17"/>
          <p:cNvSpPr/>
          <p:nvPr/>
        </p:nvSpPr>
        <p:spPr>
          <a:xfrm>
            <a:off x="6507753" y="3391097"/>
            <a:ext cx="5107703" cy="22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de Negocio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6335555" y="3649630"/>
            <a:ext cx="5107703" cy="29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utiliza </a:t>
            </a:r>
            <a:pPr indent="0" marL="0">
              <a:lnSpc>
                <a:spcPts val="1179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</a:t>
            </a:r>
            <a:pPr indent="0" marL="0">
              <a:lnSpc>
                <a:spcPts val="117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manipular DataFrames, permitiendo procesar miles de registros en menos de 5 segundos.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6507753" y="4308477"/>
            <a:ext cx="5107703" cy="22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Integridad de Datos</a:t>
            </a:r>
            <a:endParaRPr lang="en-US" sz="1200" dirty="0"/>
          </a:p>
        </p:txBody>
      </p:sp>
      <p:sp>
        <p:nvSpPr>
          <p:cNvPr id="41" name="Text 20"/>
          <p:cNvSpPr/>
          <p:nvPr/>
        </p:nvSpPr>
        <p:spPr>
          <a:xfrm>
            <a:off x="6335555" y="4567009"/>
            <a:ext cx="5107703" cy="29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Normalización automática de secciones y IDs reales para asegurar la consistencia en el análisis institucional.</a:t>
            </a:r>
            <a:endParaRPr lang="en-US" sz="1050" dirty="0"/>
          </a:p>
        </p:txBody>
      </p:sp>
      <p:sp>
        <p:nvSpPr>
          <p:cNvPr id="42" name="Text 21"/>
          <p:cNvSpPr/>
          <p:nvPr/>
        </p:nvSpPr>
        <p:spPr>
          <a:xfrm>
            <a:off x="6507753" y="5225856"/>
            <a:ext cx="5107703" cy="22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Salida Estratégica</a:t>
            </a:r>
            <a:endParaRPr lang="en-US" sz="1200" dirty="0"/>
          </a:p>
        </p:txBody>
      </p:sp>
      <p:sp>
        <p:nvSpPr>
          <p:cNvPr id="43" name="Text 22"/>
          <p:cNvSpPr/>
          <p:nvPr/>
        </p:nvSpPr>
        <p:spPr>
          <a:xfrm>
            <a:off x="6335555" y="5484388"/>
            <a:ext cx="5107703" cy="29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inmediata de </a:t>
            </a:r>
            <a:pPr indent="0" marL="0">
              <a:lnSpc>
                <a:spcPts val="1179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Crítico</a:t>
            </a:r>
            <a:pPr indent="0" marL="0">
              <a:lnSpc>
                <a:spcPts val="1179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intervenciones pedagógicas prioritarias.</a:t>
            </a:r>
            <a:endParaRPr lang="en-US" sz="1050" dirty="0"/>
          </a:p>
        </p:txBody>
      </p:sp>
      <p:sp>
        <p:nvSpPr>
          <p:cNvPr id="44" name="Text 23"/>
          <p:cNvSpPr/>
          <p:nvPr/>
        </p:nvSpPr>
        <p:spPr>
          <a:xfrm>
            <a:off x="449214" y="6438734"/>
            <a:ext cx="6979935" cy="11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43"/>
              </a:lnSpc>
              <a:buNone/>
            </a:pPr>
            <a:r>
              <a:rPr lang="en-US" sz="900" spc="92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LEMAR EDUCA | SISTEMA DE ANÁLISIS LECTOR</a:t>
            </a:r>
            <a:endParaRPr lang="en-US" sz="900" dirty="0"/>
          </a:p>
        </p:txBody>
      </p:sp>
      <p:sp>
        <p:nvSpPr>
          <p:cNvPr id="45" name="Text 24"/>
          <p:cNvSpPr/>
          <p:nvPr/>
        </p:nvSpPr>
        <p:spPr>
          <a:xfrm>
            <a:off x="9693546" y="6438734"/>
            <a:ext cx="4536958" cy="11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43"/>
              </a:lnSpc>
              <a:buNone/>
            </a:pPr>
            <a:r>
              <a:rPr lang="en-US" sz="900" spc="92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REF: ANALISIS.PY &amp; MAIN.PY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86" y="2176149"/>
            <a:ext cx="2539274" cy="291582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61" y="2404164"/>
            <a:ext cx="228015" cy="22856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61" y="4512621"/>
            <a:ext cx="2118323" cy="36888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336" y="2176149"/>
            <a:ext cx="2539412" cy="291582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1811" y="2404164"/>
            <a:ext cx="289404" cy="22856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1811" y="4512621"/>
            <a:ext cx="2118460" cy="36888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1223" y="2176149"/>
            <a:ext cx="2539274" cy="291582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1698" y="2404164"/>
            <a:ext cx="228016" cy="22856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1698" y="4512621"/>
            <a:ext cx="2118323" cy="36888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0972" y="2176149"/>
            <a:ext cx="2539411" cy="291582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1448" y="2404164"/>
            <a:ext cx="228015" cy="22856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61448" y="4512621"/>
            <a:ext cx="2118460" cy="36888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1586" y="5512929"/>
            <a:ext cx="10788797" cy="81888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2061" y="5723404"/>
            <a:ext cx="192936" cy="152376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701586" y="526189"/>
            <a:ext cx="3302200" cy="1753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81"/>
              </a:lnSpc>
              <a:buNone/>
            </a:pPr>
            <a:r>
              <a:rPr lang="en-US" sz="1050" b="1" spc="91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MÓDULO: ANALISIS.PY</a:t>
            </a:r>
            <a:endParaRPr lang="en-US" sz="1050" dirty="0"/>
          </a:p>
        </p:txBody>
      </p:sp>
      <p:sp>
        <p:nvSpPr>
          <p:cNvPr id="18" name="Text 1"/>
          <p:cNvSpPr/>
          <p:nvPr/>
        </p:nvSpPr>
        <p:spPr>
          <a:xfrm>
            <a:off x="701586" y="771744"/>
            <a:ext cx="17876509" cy="45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8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Clasificación de Riesgo Lector</a:t>
            </a:r>
            <a:endParaRPr lang="en-US" sz="3600" dirty="0"/>
          </a:p>
        </p:txBody>
      </p:sp>
      <p:sp>
        <p:nvSpPr>
          <p:cNvPr id="19" name="Text 2"/>
          <p:cNvSpPr/>
          <p:nvPr/>
        </p:nvSpPr>
        <p:spPr>
          <a:xfrm>
            <a:off x="701586" y="1334246"/>
            <a:ext cx="7857759" cy="4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4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de categorización automática que evalúa la </a:t>
            </a:r>
            <a:pPr indent="0" marL="0">
              <a:lnSpc>
                <a:spcPts val="1934"/>
              </a:lnSpc>
              <a:buNone/>
            </a:pPr>
            <a:r>
              <a:rPr lang="en-US" sz="150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comprensión (%)</a:t>
            </a:r>
            <a:pPr indent="0" marL="0">
              <a:lnSpc>
                <a:spcPts val="1934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la </a:t>
            </a:r>
            <a:pPr indent="0" marL="0">
              <a:lnSpc>
                <a:spcPts val="1934"/>
              </a:lnSpc>
              <a:buNone/>
            </a:pPr>
            <a:r>
              <a:rPr lang="en-US" sz="150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 (ppm)</a:t>
            </a:r>
            <a:pPr indent="0" marL="0">
              <a:lnSpc>
                <a:spcPts val="1934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identificar prioridades pedagógicas.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2539274" y="2386625"/>
            <a:ext cx="1142108" cy="14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1</a:t>
            </a:r>
            <a:endParaRPr lang="en-US" sz="900" dirty="0"/>
          </a:p>
        </p:txBody>
      </p:sp>
      <p:sp>
        <p:nvSpPr>
          <p:cNvPr id="21" name="Text 4"/>
          <p:cNvSpPr/>
          <p:nvPr/>
        </p:nvSpPr>
        <p:spPr>
          <a:xfrm>
            <a:off x="912061" y="2807576"/>
            <a:ext cx="3475986" cy="2455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4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Crítico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912061" y="3158369"/>
            <a:ext cx="2118323" cy="86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 inmediata. Estudiantes con niveles mínimos de comprensión y fluidez severamente afectada.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912061" y="4705557"/>
            <a:ext cx="2979412" cy="14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ACCIÓN: INTERVENCIÓN</a:t>
            </a:r>
            <a:endParaRPr lang="en-US" sz="900" dirty="0"/>
          </a:p>
        </p:txBody>
      </p:sp>
      <p:sp>
        <p:nvSpPr>
          <p:cNvPr id="24" name="Text 7"/>
          <p:cNvSpPr/>
          <p:nvPr/>
        </p:nvSpPr>
        <p:spPr>
          <a:xfrm>
            <a:off x="5289161" y="2386625"/>
            <a:ext cx="1142108" cy="14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2</a:t>
            </a:r>
            <a:endParaRPr lang="en-US" sz="900" dirty="0"/>
          </a:p>
        </p:txBody>
      </p:sp>
      <p:sp>
        <p:nvSpPr>
          <p:cNvPr id="25" name="Text 8"/>
          <p:cNvSpPr/>
          <p:nvPr/>
        </p:nvSpPr>
        <p:spPr>
          <a:xfrm>
            <a:off x="3661811" y="2807576"/>
            <a:ext cx="2731132" cy="2455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4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Alto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3661811" y="3158369"/>
            <a:ext cx="2118460" cy="6499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Desempeño significativamente por debajo del estándar esperado para el grado escolar.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3661811" y="4705557"/>
            <a:ext cx="2532501" cy="14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ACCIÓN: MONITOREO</a:t>
            </a:r>
            <a:endParaRPr lang="en-US" sz="900" dirty="0"/>
          </a:p>
        </p:txBody>
      </p:sp>
      <p:sp>
        <p:nvSpPr>
          <p:cNvPr id="28" name="Text 11"/>
          <p:cNvSpPr/>
          <p:nvPr/>
        </p:nvSpPr>
        <p:spPr>
          <a:xfrm>
            <a:off x="8038911" y="2386625"/>
            <a:ext cx="1142108" cy="14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3</a:t>
            </a:r>
            <a:endParaRPr lang="en-US" sz="900" dirty="0"/>
          </a:p>
        </p:txBody>
      </p:sp>
      <p:sp>
        <p:nvSpPr>
          <p:cNvPr id="29" name="Text 12"/>
          <p:cNvSpPr/>
          <p:nvPr/>
        </p:nvSpPr>
        <p:spPr>
          <a:xfrm>
            <a:off x="6411698" y="2807576"/>
            <a:ext cx="2979417" cy="2455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4"/>
              </a:lnSpc>
              <a:buNone/>
            </a:pPr>
            <a:r>
              <a:rPr lang="en-US" sz="1500" b="1" dirty="0">
                <a:solidFill>
                  <a:srgbClr val="A1620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Medio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6411698" y="3158369"/>
            <a:ext cx="2118323" cy="8665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Estudiantes en proceso de consolidación. Comprensión aceptable pero con margen de mejora en fluidez.</a:t>
            </a:r>
            <a:endParaRPr lang="en-US" sz="1050" dirty="0"/>
          </a:p>
        </p:txBody>
      </p:sp>
      <p:sp>
        <p:nvSpPr>
          <p:cNvPr id="31" name="Text 14"/>
          <p:cNvSpPr/>
          <p:nvPr/>
        </p:nvSpPr>
        <p:spPr>
          <a:xfrm>
            <a:off x="6411698" y="4705557"/>
            <a:ext cx="2383530" cy="14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ACCIÓN: REFUERZO</a:t>
            </a:r>
            <a:endParaRPr lang="en-US" sz="900" dirty="0"/>
          </a:p>
        </p:txBody>
      </p:sp>
      <p:sp>
        <p:nvSpPr>
          <p:cNvPr id="32" name="Text 15"/>
          <p:cNvSpPr/>
          <p:nvPr/>
        </p:nvSpPr>
        <p:spPr>
          <a:xfrm>
            <a:off x="10788798" y="2386625"/>
            <a:ext cx="1142108" cy="14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NIVEL 4</a:t>
            </a:r>
            <a:endParaRPr lang="en-US" sz="900" dirty="0"/>
          </a:p>
        </p:txBody>
      </p:sp>
      <p:sp>
        <p:nvSpPr>
          <p:cNvPr id="33" name="Text 16"/>
          <p:cNvSpPr/>
          <p:nvPr/>
        </p:nvSpPr>
        <p:spPr>
          <a:xfrm>
            <a:off x="9161448" y="2807576"/>
            <a:ext cx="2731132" cy="2455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34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Bajo</a:t>
            </a:r>
            <a:endParaRPr lang="en-US" sz="1500" dirty="0"/>
          </a:p>
        </p:txBody>
      </p:sp>
      <p:sp>
        <p:nvSpPr>
          <p:cNvPr id="34" name="Text 17"/>
          <p:cNvSpPr/>
          <p:nvPr/>
        </p:nvSpPr>
        <p:spPr>
          <a:xfrm>
            <a:off x="9161448" y="3158369"/>
            <a:ext cx="2118460" cy="64992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Desempeño óptimo. Alta efectividad lectora y velocidad adecuada al nivel de grado.</a:t>
            </a:r>
            <a:endParaRPr lang="en-US" sz="1050" dirty="0"/>
          </a:p>
        </p:txBody>
      </p:sp>
      <p:sp>
        <p:nvSpPr>
          <p:cNvPr id="35" name="Text 18"/>
          <p:cNvSpPr/>
          <p:nvPr/>
        </p:nvSpPr>
        <p:spPr>
          <a:xfrm>
            <a:off x="9161448" y="4705557"/>
            <a:ext cx="2979412" cy="14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ACCIÓN: POTENCIACIÓN</a:t>
            </a:r>
            <a:endParaRPr lang="en-US" sz="900" dirty="0"/>
          </a:p>
        </p:txBody>
      </p:sp>
      <p:sp>
        <p:nvSpPr>
          <p:cNvPr id="36" name="Text 19"/>
          <p:cNvSpPr/>
          <p:nvPr/>
        </p:nvSpPr>
        <p:spPr>
          <a:xfrm>
            <a:off x="1210235" y="5729433"/>
            <a:ext cx="2532501" cy="14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05"/>
              </a:lnSpc>
              <a:buNone/>
            </a:pPr>
            <a:r>
              <a:rPr lang="en-US" sz="900" b="1" spc="78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LÓGICA DE NEGOCIO</a:t>
            </a:r>
            <a:endParaRPr lang="en-US" sz="900" dirty="0"/>
          </a:p>
        </p:txBody>
      </p:sp>
      <p:sp>
        <p:nvSpPr>
          <p:cNvPr id="37" name="Text 20"/>
          <p:cNvSpPr/>
          <p:nvPr/>
        </p:nvSpPr>
        <p:spPr>
          <a:xfrm>
            <a:off x="912061" y="5945939"/>
            <a:ext cx="10367846" cy="1753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81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método 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57200"/>
            <a:ext cx="1905000" cy="304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95463"/>
            <a:ext cx="5524500" cy="990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38463"/>
            <a:ext cx="2705100" cy="131921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119438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2938463"/>
            <a:ext cx="2705100" cy="13192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119438"/>
            <a:ext cx="17145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410075"/>
            <a:ext cx="5524500" cy="104298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6005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1795463"/>
            <a:ext cx="5524500" cy="24860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4686300"/>
            <a:ext cx="5524500" cy="1295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4762500"/>
            <a:ext cx="5372100" cy="1143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6134100"/>
            <a:ext cx="11277600" cy="2667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45720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Indicador </a:t>
            </a:r>
            <a:pPr indent="0" marL="0">
              <a:lnSpc>
                <a:spcPts val="3600"/>
              </a:lnSpc>
              <a:buNone/>
            </a:pPr>
            <a:r>
              <a:rPr lang="en-US" sz="3600" b="1" spc="-72" kern="0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IFEL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457200" y="990600"/>
            <a:ext cx="146304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Innovación en la métrica educativa: una visión multidimensional.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9982200" y="457200"/>
            <a:ext cx="29187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MÉTRICA PROPIETARIA V1.0</a:t>
            </a:r>
            <a:endParaRPr lang="en-US" sz="900" dirty="0"/>
          </a:p>
        </p:txBody>
      </p:sp>
      <p:sp>
        <p:nvSpPr>
          <p:cNvPr id="18" name="Text 3"/>
          <p:cNvSpPr/>
          <p:nvPr/>
        </p:nvSpPr>
        <p:spPr>
          <a:xfrm>
            <a:off x="457200" y="1528763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DEFINICIÓN MATEMÁTICA</a:t>
            </a:r>
            <a:endParaRPr lang="en-US" sz="1050" dirty="0"/>
          </a:p>
        </p:txBody>
      </p:sp>
      <p:sp>
        <p:nvSpPr>
          <p:cNvPr id="19" name="Text 4"/>
          <p:cNvSpPr/>
          <p:nvPr/>
        </p:nvSpPr>
        <p:spPr>
          <a:xfrm>
            <a:off x="609600" y="1947863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spc="-90" kern="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IFEL = </a:t>
            </a:r>
            <a:pPr indent="0" marL="0">
              <a:lnSpc>
                <a:spcPts val="2700"/>
              </a:lnSpc>
              <a:buNone/>
            </a:pPr>
            <a:r>
              <a:rPr lang="en-US" sz="2250" b="1" spc="-9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Comprensión %</a:t>
            </a:r>
            <a:pPr indent="0" marL="0">
              <a:lnSpc>
                <a:spcPts val="2700"/>
              </a:lnSpc>
              <a:buNone/>
            </a:pPr>
            <a:r>
              <a:rPr lang="en-US" sz="2250" b="1" spc="-90" kern="0" dirty="0">
                <a:solidFill>
                  <a:srgbClr val="3333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× </a:t>
            </a:r>
            <a:pPr indent="0" marL="0">
              <a:lnSpc>
                <a:spcPts val="2700"/>
              </a:lnSpc>
              <a:buNone/>
            </a:pPr>
            <a:r>
              <a:rPr lang="en-US" sz="2250" b="1" spc="-90" kern="0" dirty="0">
                <a:solidFill>
                  <a:srgbClr val="B04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 Fluidez</a:t>
            </a:r>
            <a:endParaRPr lang="en-US" sz="2250" dirty="0"/>
          </a:p>
        </p:txBody>
      </p:sp>
      <p:sp>
        <p:nvSpPr>
          <p:cNvPr id="20" name="Text 5"/>
          <p:cNvSpPr/>
          <p:nvPr/>
        </p:nvSpPr>
        <p:spPr>
          <a:xfrm>
            <a:off x="609600" y="3433763"/>
            <a:ext cx="3291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Mecánica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609600" y="3738563"/>
            <a:ext cx="24003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estudiantes con alta velocidad pero nula asimilación.</a:t>
            </a:r>
            <a:endParaRPr lang="en-US" sz="1050" dirty="0"/>
          </a:p>
        </p:txBody>
      </p:sp>
      <p:sp>
        <p:nvSpPr>
          <p:cNvPr id="22" name="Text 7"/>
          <p:cNvSpPr/>
          <p:nvPr/>
        </p:nvSpPr>
        <p:spPr>
          <a:xfrm>
            <a:off x="3429000" y="343376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Comprensión Lenta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3429000" y="3738563"/>
            <a:ext cx="24003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44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 alumnos con excelente análisis pero fluidez ineficiente.</a:t>
            </a:r>
            <a:endParaRPr lang="en-US" sz="1050" dirty="0"/>
          </a:p>
        </p:txBody>
      </p:sp>
      <p:sp>
        <p:nvSpPr>
          <p:cNvPr id="24" name="Text 9"/>
          <p:cNvSpPr/>
          <p:nvPr/>
        </p:nvSpPr>
        <p:spPr>
          <a:xfrm>
            <a:off x="838200" y="456247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Innovador</a:t>
            </a:r>
            <a:endParaRPr lang="en-US" sz="1200" dirty="0"/>
          </a:p>
        </p:txBody>
      </p:sp>
      <p:sp>
        <p:nvSpPr>
          <p:cNvPr id="25" name="Text 10"/>
          <p:cNvSpPr/>
          <p:nvPr/>
        </p:nvSpPr>
        <p:spPr>
          <a:xfrm>
            <a:off x="609600" y="4867275"/>
            <a:ext cx="52197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IFEL penaliza velocidades extremas para incentivar una lectura </a:t>
            </a:r>
            <a:pPr indent="0" marL="0">
              <a:lnSpc>
                <a:spcPts val="1706"/>
              </a:lnSpc>
              <a:buNone/>
            </a:pPr>
            <a:r>
              <a:rPr lang="en-US" sz="1050" b="1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reflexiva y fluida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Herramienta diagnóstica para intervenciones pedagógicas.</a:t>
            </a:r>
            <a:endParaRPr lang="en-US" sz="1050" dirty="0"/>
          </a:p>
        </p:txBody>
      </p:sp>
      <p:sp>
        <p:nvSpPr>
          <p:cNvPr id="26" name="Text 11"/>
          <p:cNvSpPr/>
          <p:nvPr/>
        </p:nvSpPr>
        <p:spPr>
          <a:xfrm>
            <a:off x="6210300" y="1528763"/>
            <a:ext cx="57607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RESULTADOS POR GRADO (PROMEDIO IFEL)</a:t>
            </a:r>
            <a:endParaRPr lang="en-US" sz="1050" dirty="0"/>
          </a:p>
        </p:txBody>
      </p:sp>
      <p:sp>
        <p:nvSpPr>
          <p:cNvPr id="27" name="Text 12"/>
          <p:cNvSpPr/>
          <p:nvPr/>
        </p:nvSpPr>
        <p:spPr>
          <a:xfrm>
            <a:off x="6210300" y="4419600"/>
            <a:ext cx="552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IMPLEMENTACIÓN TÉCNICA</a:t>
            </a:r>
            <a:endParaRPr lang="en-US" sz="1050" dirty="0"/>
          </a:p>
        </p:txBody>
      </p:sp>
      <p:sp>
        <p:nvSpPr>
          <p:cNvPr id="28" name="Text 13"/>
          <p:cNvSpPr/>
          <p:nvPr/>
        </p:nvSpPr>
        <p:spPr>
          <a:xfrm>
            <a:off x="457200" y="6248400"/>
            <a:ext cx="106527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Modelo preliminar en validación. Datos basados en el reporte institucional.</a:t>
            </a:r>
            <a:endParaRPr lang="en-US" sz="900" dirty="0"/>
          </a:p>
        </p:txBody>
      </p:sp>
      <p:sp>
        <p:nvSpPr>
          <p:cNvPr id="29" name="Text 14"/>
          <p:cNvSpPr/>
          <p:nvPr/>
        </p:nvSpPr>
        <p:spPr>
          <a:xfrm>
            <a:off x="10770840" y="6248400"/>
            <a:ext cx="15087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LEMAR EDUCA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3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24" y="1106853"/>
            <a:ext cx="5527603" cy="8077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24" y="2094046"/>
            <a:ext cx="2703913" cy="74787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2297" y="2094046"/>
            <a:ext cx="2704030" cy="74787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724" y="2961579"/>
            <a:ext cx="2703913" cy="74787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2297" y="2961579"/>
            <a:ext cx="2704030" cy="74787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724" y="3888942"/>
            <a:ext cx="5526785" cy="251285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5647" y="1106853"/>
            <a:ext cx="5527603" cy="531971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5306" y="1226512"/>
            <a:ext cx="5288283" cy="20940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5306" y="1241470"/>
            <a:ext cx="149575" cy="119660"/>
          </a:xfrm>
          <a:prstGeom prst="rect">
            <a:avLst/>
          </a:prstGeom>
        </p:spPr>
      </p:pic>
      <p:pic>
        <p:nvPicPr>
          <p:cNvPr id="12" name="Image 10" descr="https://picture-search.skywork.ai/aippt/image/sheet/81203c7ecf66bb2ac59ef8480f5e325d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5306" y="1555577"/>
            <a:ext cx="5288167" cy="415291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5306" y="5828272"/>
            <a:ext cx="5288283" cy="47863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5051" y="5947931"/>
            <a:ext cx="89745" cy="8974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724" y="6606060"/>
            <a:ext cx="11294526" cy="23931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724" y="6755635"/>
            <a:ext cx="59830" cy="59829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48724" y="299149"/>
            <a:ext cx="14673834" cy="29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356"/>
              </a:lnSpc>
              <a:buNone/>
            </a:pPr>
            <a:r>
              <a:rPr lang="en-US" sz="2700" b="1" spc="-69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del Factor de Fluidez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448724" y="658129"/>
            <a:ext cx="25417177" cy="20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9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Ponderación técnica de la comprensión basada en la velocidad lectora (palabras por minuto - ppm).</a:t>
            </a:r>
            <a:endParaRPr lang="en-US" sz="1350" dirty="0"/>
          </a:p>
        </p:txBody>
      </p:sp>
      <p:sp>
        <p:nvSpPr>
          <p:cNvPr id="19" name="Text 2"/>
          <p:cNvSpPr/>
          <p:nvPr/>
        </p:nvSpPr>
        <p:spPr>
          <a:xfrm>
            <a:off x="628214" y="1286342"/>
            <a:ext cx="5168624" cy="11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42"/>
              </a:lnSpc>
              <a:buNone/>
            </a:pPr>
            <a:r>
              <a:rPr lang="en-US" sz="707" spc="72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CÁLCULO DEL INDICADOR</a:t>
            </a:r>
            <a:endParaRPr lang="en-US" sz="707" dirty="0"/>
          </a:p>
        </p:txBody>
      </p:sp>
      <p:sp>
        <p:nvSpPr>
          <p:cNvPr id="20" name="Text 3"/>
          <p:cNvSpPr/>
          <p:nvPr/>
        </p:nvSpPr>
        <p:spPr>
          <a:xfrm>
            <a:off x="628214" y="1465832"/>
            <a:ext cx="13373100" cy="26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20"/>
              </a:lnSpc>
              <a:buNone/>
            </a:pPr>
            <a:r>
              <a:rPr lang="en-US" sz="176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IFEL = </a:t>
            </a:r>
            <a:pPr indent="0" marL="0">
              <a:lnSpc>
                <a:spcPts val="2120"/>
              </a:lnSpc>
              <a:buNone/>
            </a:pPr>
            <a:r>
              <a:rPr lang="en-US" sz="1767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comprensión_pct</a:t>
            </a:r>
            <a:pPr indent="0" marL="0">
              <a:lnSpc>
                <a:spcPts val="2120"/>
              </a:lnSpc>
              <a:buNone/>
            </a:pPr>
            <a:r>
              <a:rPr lang="en-US" sz="176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× </a:t>
            </a:r>
            <a:pPr indent="0" marL="0">
              <a:lnSpc>
                <a:spcPts val="2120"/>
              </a:lnSpc>
              <a:buNone/>
            </a:pPr>
            <a:r>
              <a:rPr lang="en-US" sz="17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factor_fluidez</a:t>
            </a:r>
            <a:endParaRPr lang="en-US" sz="1767" dirty="0"/>
          </a:p>
        </p:txBody>
      </p:sp>
      <p:sp>
        <p:nvSpPr>
          <p:cNvPr id="21" name="Text 4"/>
          <p:cNvSpPr/>
          <p:nvPr/>
        </p:nvSpPr>
        <p:spPr>
          <a:xfrm>
            <a:off x="568384" y="2243620"/>
            <a:ext cx="149352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b="1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80 ppm</a:t>
            </a:r>
            <a:endParaRPr lang="en-US" sz="824" dirty="0"/>
          </a:p>
        </p:txBody>
      </p:sp>
      <p:sp>
        <p:nvSpPr>
          <p:cNvPr id="22" name="Text 5"/>
          <p:cNvSpPr/>
          <p:nvPr/>
        </p:nvSpPr>
        <p:spPr>
          <a:xfrm>
            <a:off x="2703913" y="2213705"/>
            <a:ext cx="1234440" cy="20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9"/>
              </a:lnSpc>
              <a:buNone/>
            </a:pPr>
            <a:r>
              <a:rPr lang="en-US" sz="1060" b="1" dirty="0">
                <a:solidFill>
                  <a:srgbClr val="B04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0.85</a:t>
            </a:r>
            <a:endParaRPr lang="en-US" sz="1060" dirty="0"/>
          </a:p>
        </p:txBody>
      </p:sp>
      <p:sp>
        <p:nvSpPr>
          <p:cNvPr id="23" name="Text 6"/>
          <p:cNvSpPr/>
          <p:nvPr/>
        </p:nvSpPr>
        <p:spPr>
          <a:xfrm>
            <a:off x="568384" y="2453025"/>
            <a:ext cx="2464594" cy="11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42"/>
              </a:lnSpc>
              <a:buNone/>
            </a:pPr>
            <a:r>
              <a:rPr lang="en-US" sz="707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PENALIZACIÓN LEVE</a:t>
            </a:r>
            <a:endParaRPr lang="en-US" sz="707" dirty="0"/>
          </a:p>
        </p:txBody>
      </p:sp>
      <p:sp>
        <p:nvSpPr>
          <p:cNvPr id="24" name="Text 7"/>
          <p:cNvSpPr/>
          <p:nvPr/>
        </p:nvSpPr>
        <p:spPr>
          <a:xfrm>
            <a:off x="568384" y="2572685"/>
            <a:ext cx="384048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 baja / Silabeo</a:t>
            </a:r>
            <a:endParaRPr lang="en-US" sz="824" dirty="0"/>
          </a:p>
        </p:txBody>
      </p:sp>
      <p:sp>
        <p:nvSpPr>
          <p:cNvPr id="25" name="Text 8"/>
          <p:cNvSpPr/>
          <p:nvPr/>
        </p:nvSpPr>
        <p:spPr>
          <a:xfrm>
            <a:off x="3391957" y="2243620"/>
            <a:ext cx="245364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b="1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80 - 160 ppm</a:t>
            </a:r>
            <a:endParaRPr lang="en-US" sz="824" dirty="0"/>
          </a:p>
        </p:txBody>
      </p:sp>
      <p:sp>
        <p:nvSpPr>
          <p:cNvPr id="26" name="Text 9"/>
          <p:cNvSpPr/>
          <p:nvPr/>
        </p:nvSpPr>
        <p:spPr>
          <a:xfrm>
            <a:off x="5527603" y="2213705"/>
            <a:ext cx="1234440" cy="20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9"/>
              </a:lnSpc>
              <a:buNone/>
            </a:pPr>
            <a:r>
              <a:rPr lang="en-US" sz="1060" b="1" dirty="0">
                <a:solidFill>
                  <a:srgbClr val="16A3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1.00</a:t>
            </a:r>
            <a:endParaRPr lang="en-US" sz="1060" dirty="0"/>
          </a:p>
        </p:txBody>
      </p:sp>
      <p:sp>
        <p:nvSpPr>
          <p:cNvPr id="27" name="Text 10"/>
          <p:cNvSpPr/>
          <p:nvPr/>
        </p:nvSpPr>
        <p:spPr>
          <a:xfrm>
            <a:off x="3391957" y="2453025"/>
            <a:ext cx="2464711" cy="11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42"/>
              </a:lnSpc>
              <a:buNone/>
            </a:pPr>
            <a:r>
              <a:rPr lang="en-US" sz="707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RANGO ÓPTIMO</a:t>
            </a:r>
            <a:endParaRPr lang="en-US" sz="707" dirty="0"/>
          </a:p>
        </p:txBody>
      </p:sp>
      <p:sp>
        <p:nvSpPr>
          <p:cNvPr id="28" name="Text 11"/>
          <p:cNvSpPr/>
          <p:nvPr/>
        </p:nvSpPr>
        <p:spPr>
          <a:xfrm>
            <a:off x="3391957" y="2572685"/>
            <a:ext cx="304038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Fluidez equilibrada</a:t>
            </a:r>
            <a:endParaRPr lang="en-US" sz="824" dirty="0"/>
          </a:p>
        </p:txBody>
      </p:sp>
      <p:sp>
        <p:nvSpPr>
          <p:cNvPr id="29" name="Text 12"/>
          <p:cNvSpPr/>
          <p:nvPr/>
        </p:nvSpPr>
        <p:spPr>
          <a:xfrm>
            <a:off x="568384" y="3111154"/>
            <a:ext cx="176022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b="1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160 ppm</a:t>
            </a:r>
            <a:endParaRPr lang="en-US" sz="824" dirty="0"/>
          </a:p>
        </p:txBody>
      </p:sp>
      <p:sp>
        <p:nvSpPr>
          <p:cNvPr id="30" name="Text 13"/>
          <p:cNvSpPr/>
          <p:nvPr/>
        </p:nvSpPr>
        <p:spPr>
          <a:xfrm>
            <a:off x="2703913" y="3081239"/>
            <a:ext cx="1234440" cy="20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9"/>
              </a:lnSpc>
              <a:buNone/>
            </a:pPr>
            <a:r>
              <a:rPr lang="en-US" sz="1060" b="1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0.90</a:t>
            </a:r>
            <a:endParaRPr lang="en-US" sz="1060" dirty="0"/>
          </a:p>
        </p:txBody>
      </p:sp>
      <p:sp>
        <p:nvSpPr>
          <p:cNvPr id="31" name="Text 14"/>
          <p:cNvSpPr/>
          <p:nvPr/>
        </p:nvSpPr>
        <p:spPr>
          <a:xfrm>
            <a:off x="568384" y="3320558"/>
            <a:ext cx="2464594" cy="11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42"/>
              </a:lnSpc>
              <a:buNone/>
            </a:pPr>
            <a:r>
              <a:rPr lang="en-US" sz="707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MECÁNICO</a:t>
            </a:r>
            <a:endParaRPr lang="en-US" sz="707" dirty="0"/>
          </a:p>
        </p:txBody>
      </p:sp>
      <p:sp>
        <p:nvSpPr>
          <p:cNvPr id="32" name="Text 15"/>
          <p:cNvSpPr/>
          <p:nvPr/>
        </p:nvSpPr>
        <p:spPr>
          <a:xfrm>
            <a:off x="568384" y="3440218"/>
            <a:ext cx="336042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sin reflexión</a:t>
            </a:r>
            <a:endParaRPr lang="en-US" sz="824" dirty="0"/>
          </a:p>
        </p:txBody>
      </p:sp>
      <p:sp>
        <p:nvSpPr>
          <p:cNvPr id="33" name="Text 16"/>
          <p:cNvSpPr/>
          <p:nvPr/>
        </p:nvSpPr>
        <p:spPr>
          <a:xfrm>
            <a:off x="3391957" y="3111154"/>
            <a:ext cx="138684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b="1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NULL / 0</a:t>
            </a:r>
            <a:endParaRPr lang="en-US" sz="824" dirty="0"/>
          </a:p>
        </p:txBody>
      </p:sp>
      <p:sp>
        <p:nvSpPr>
          <p:cNvPr id="34" name="Text 17"/>
          <p:cNvSpPr/>
          <p:nvPr/>
        </p:nvSpPr>
        <p:spPr>
          <a:xfrm>
            <a:off x="5527603" y="3081239"/>
            <a:ext cx="1234440" cy="20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49"/>
              </a:lnSpc>
              <a:buNone/>
            </a:pPr>
            <a:r>
              <a:rPr lang="en-US" sz="1060" b="1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0.70</a:t>
            </a:r>
            <a:endParaRPr lang="en-US" sz="1060" dirty="0"/>
          </a:p>
        </p:txBody>
      </p:sp>
      <p:sp>
        <p:nvSpPr>
          <p:cNvPr id="35" name="Text 18"/>
          <p:cNvSpPr/>
          <p:nvPr/>
        </p:nvSpPr>
        <p:spPr>
          <a:xfrm>
            <a:off x="3391957" y="3320558"/>
            <a:ext cx="2606040" cy="11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42"/>
              </a:lnSpc>
              <a:buNone/>
            </a:pPr>
            <a:r>
              <a:rPr lang="en-US" sz="707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PENALIZACIÓN SEVERA</a:t>
            </a:r>
            <a:endParaRPr lang="en-US" sz="707" dirty="0"/>
          </a:p>
        </p:txBody>
      </p:sp>
      <p:sp>
        <p:nvSpPr>
          <p:cNvPr id="36" name="Text 19"/>
          <p:cNvSpPr/>
          <p:nvPr/>
        </p:nvSpPr>
        <p:spPr>
          <a:xfrm>
            <a:off x="3391957" y="3440218"/>
            <a:ext cx="256032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Ausencia de dato</a:t>
            </a:r>
            <a:endParaRPr lang="en-US" sz="824" dirty="0"/>
          </a:p>
        </p:txBody>
      </p:sp>
      <p:sp>
        <p:nvSpPr>
          <p:cNvPr id="37" name="Text 20"/>
          <p:cNvSpPr/>
          <p:nvPr/>
        </p:nvSpPr>
        <p:spPr>
          <a:xfrm>
            <a:off x="6544711" y="1226512"/>
            <a:ext cx="4480560" cy="14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78"/>
              </a:lnSpc>
              <a:buNone/>
            </a:pPr>
            <a:r>
              <a:rPr lang="en-US" sz="824" b="1" spc="84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ANALISIS.PY | IMPLEMENTACIÓN</a:t>
            </a:r>
            <a:endParaRPr lang="en-US" sz="824" dirty="0"/>
          </a:p>
        </p:txBody>
      </p:sp>
      <p:sp>
        <p:nvSpPr>
          <p:cNvPr id="38" name="Text 21"/>
          <p:cNvSpPr/>
          <p:nvPr/>
        </p:nvSpPr>
        <p:spPr>
          <a:xfrm>
            <a:off x="6544711" y="5828272"/>
            <a:ext cx="5059683" cy="4786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48"/>
              </a:lnSpc>
              <a:buNone/>
            </a:pPr>
            <a:r>
              <a:rPr lang="en-US" sz="707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función </a:t>
            </a:r>
            <a:pPr indent="0" marL="0">
              <a:lnSpc>
                <a:spcPts val="1148"/>
              </a:lnSpc>
              <a:buNone/>
            </a:pPr>
            <a:r>
              <a:rPr lang="en-US" sz="707" b="1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factor_fluidez(vel)</a:t>
            </a:r>
            <a:pPr indent="0" marL="0">
              <a:lnSpc>
                <a:spcPts val="1148"/>
              </a:lnSpc>
              <a:buNone/>
            </a:pPr>
            <a:r>
              <a:rPr lang="en-US" sz="707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utiliza lógica condicional para asignar el coeficiente según el desempeño individual del estudiante antes de calcular el IFEL final.</a:t>
            </a:r>
            <a:endParaRPr lang="en-US" sz="707" dirty="0"/>
          </a:p>
        </p:txBody>
      </p:sp>
      <p:sp>
        <p:nvSpPr>
          <p:cNvPr id="39" name="Text 22"/>
          <p:cNvSpPr/>
          <p:nvPr/>
        </p:nvSpPr>
        <p:spPr>
          <a:xfrm>
            <a:off x="628214" y="6725720"/>
            <a:ext cx="5623560" cy="11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942"/>
              </a:lnSpc>
              <a:buNone/>
            </a:pPr>
            <a:r>
              <a:rPr lang="en-US" sz="707" b="1" spc="72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DEFINICIÓN DE COEFICIENTES DE PONDERACIÓN</a:t>
            </a:r>
            <a:endParaRPr lang="en-US" sz="707" dirty="0"/>
          </a:p>
        </p:txBody>
      </p:sp>
      <p:sp>
        <p:nvSpPr>
          <p:cNvPr id="40" name="Text 23"/>
          <p:cNvSpPr/>
          <p:nvPr/>
        </p:nvSpPr>
        <p:spPr>
          <a:xfrm>
            <a:off x="10711185" y="6729459"/>
            <a:ext cx="2781300" cy="1121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83"/>
              </a:lnSpc>
              <a:buNone/>
            </a:pPr>
            <a:r>
              <a:rPr lang="en-US" sz="589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MODELO: IFEL_V1.1_LEMAR</a:t>
            </a:r>
            <a:endParaRPr lang="en-US" sz="58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1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17" y="1217970"/>
            <a:ext cx="6535234" cy="478191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04" y="1605505"/>
            <a:ext cx="6186733" cy="42075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899" y="1217970"/>
            <a:ext cx="4604799" cy="142968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7986" y="1384057"/>
            <a:ext cx="193768" cy="19376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7986" y="2204759"/>
            <a:ext cx="4272626" cy="27681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1899" y="2813744"/>
            <a:ext cx="4604799" cy="1771592"/>
          </a:xfrm>
          <a:prstGeom prst="rect">
            <a:avLst/>
          </a:prstGeom>
        </p:spPr>
      </p:pic>
      <p:pic>
        <p:nvPicPr>
          <p:cNvPr id="9" name="Image 7" descr="https://picture-search.skywork.ai/aippt/image/sheet/101f3b20249f5ad38a2bc53eed2c7b66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1899" y="2813744"/>
            <a:ext cx="4604799" cy="177159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1899" y="4253162"/>
            <a:ext cx="4604799" cy="33217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1899" y="4751423"/>
            <a:ext cx="4604799" cy="95845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7986" y="5166640"/>
            <a:ext cx="131486" cy="13321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7986" y="5410580"/>
            <a:ext cx="131486" cy="13321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5217" y="6221334"/>
            <a:ext cx="11361482" cy="221449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15217" y="415217"/>
            <a:ext cx="21521547" cy="27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80"/>
              </a:lnSpc>
              <a:buNone/>
            </a:pPr>
            <a:r>
              <a:rPr lang="en-US" sz="2700" b="1" spc="-74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Institucional y Correlaciones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415217" y="747390"/>
            <a:ext cx="24353330" cy="19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26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Identificación de perfiles de rendimiento y patrones de aprendizaje por nivel escolar.</a:t>
            </a:r>
            <a:endParaRPr lang="en-US" sz="1350" dirty="0"/>
          </a:p>
        </p:txBody>
      </p:sp>
      <p:sp>
        <p:nvSpPr>
          <p:cNvPr id="17" name="Text 2"/>
          <p:cNvSpPr/>
          <p:nvPr/>
        </p:nvSpPr>
        <p:spPr>
          <a:xfrm>
            <a:off x="581304" y="1384057"/>
            <a:ext cx="6203060" cy="1107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72"/>
              </a:lnSpc>
              <a:buNone/>
            </a:pPr>
            <a:r>
              <a:rPr lang="en-US" sz="900" b="1" spc="99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MÉTRICA: PROMEDIO IFEL POR GRADO</a:t>
            </a:r>
            <a:endParaRPr lang="en-US" sz="900" dirty="0"/>
          </a:p>
        </p:txBody>
      </p:sp>
      <p:sp>
        <p:nvSpPr>
          <p:cNvPr id="18" name="Text 3"/>
          <p:cNvSpPr/>
          <p:nvPr/>
        </p:nvSpPr>
        <p:spPr>
          <a:xfrm>
            <a:off x="7642479" y="1384057"/>
            <a:ext cx="4719641" cy="1937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2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Relación V vs C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7337986" y="1660868"/>
            <a:ext cx="4272626" cy="4331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del coeficiente de correlación para determinar la dependencia entre la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 (ppm)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la </a:t>
            </a:r>
            <a:pPr indent="0" marL="0">
              <a:lnSpc>
                <a:spcPts val="1706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comprensión (%)</a:t>
            </a:r>
            <a:pPr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Text 5"/>
          <p:cNvSpPr/>
          <p:nvPr/>
        </p:nvSpPr>
        <p:spPr>
          <a:xfrm>
            <a:off x="7421030" y="2204759"/>
            <a:ext cx="7683463" cy="27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72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Method: correlacion_velocidad_comprension()</a:t>
            </a:r>
            <a:endParaRPr lang="en-US" sz="900" dirty="0"/>
          </a:p>
        </p:txBody>
      </p:sp>
      <p:sp>
        <p:nvSpPr>
          <p:cNvPr id="21" name="Text 6"/>
          <p:cNvSpPr/>
          <p:nvPr/>
        </p:nvSpPr>
        <p:spPr>
          <a:xfrm>
            <a:off x="7282624" y="4363887"/>
            <a:ext cx="6418720" cy="110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72"/>
              </a:lnSpc>
              <a:buNone/>
            </a:pPr>
            <a:r>
              <a:rPr lang="en-US" sz="900" spc="99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DE CONSOLA: REPORTE DE CASOS</a:t>
            </a:r>
            <a:endParaRPr lang="en-US" sz="900" dirty="0"/>
          </a:p>
        </p:txBody>
      </p:sp>
      <p:sp>
        <p:nvSpPr>
          <p:cNvPr id="22" name="Text 7"/>
          <p:cNvSpPr/>
          <p:nvPr/>
        </p:nvSpPr>
        <p:spPr>
          <a:xfrm>
            <a:off x="7337986" y="4917510"/>
            <a:ext cx="4272626" cy="13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090"/>
              </a:lnSpc>
              <a:buNone/>
            </a:pPr>
            <a:r>
              <a:rPr lang="en-US" sz="1050" b="1" spc="29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CRÍTICOS</a:t>
            </a:r>
            <a:endParaRPr lang="en-US" sz="1050" dirty="0"/>
          </a:p>
        </p:txBody>
      </p:sp>
      <p:sp>
        <p:nvSpPr>
          <p:cNvPr id="23" name="Text 8"/>
          <p:cNvSpPr/>
          <p:nvPr/>
        </p:nvSpPr>
        <p:spPr>
          <a:xfrm>
            <a:off x="7552515" y="5138958"/>
            <a:ext cx="9470717" cy="13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Detección automática de </a:t>
            </a:r>
            <a:pPr algn="l" indent="0" marL="0">
              <a:lnSpc>
                <a:spcPts val="1090"/>
              </a:lnSpc>
              <a:buNone/>
            </a:pPr>
            <a:r>
              <a:rPr lang="en-US" sz="105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Lectores Mecánicos</a:t>
            </a:r>
            <a:pPr algn="l" indent="0" marL="0">
              <a:lnSpc>
                <a:spcPts val="109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24" name="Text 9"/>
          <p:cNvSpPr/>
          <p:nvPr/>
        </p:nvSpPr>
        <p:spPr>
          <a:xfrm>
            <a:off x="7552515" y="5382898"/>
            <a:ext cx="9690967" cy="13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Identificación de grados con </a:t>
            </a:r>
            <a:pPr algn="l" indent="0" marL="0">
              <a:lnSpc>
                <a:spcPts val="1090"/>
              </a:lnSpc>
              <a:buNone/>
            </a:pPr>
            <a:r>
              <a:rPr lang="en-US" sz="105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Crítico</a:t>
            </a:r>
            <a:pPr algn="l" indent="0" marL="0">
              <a:lnSpc>
                <a:spcPts val="109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25" name="Text 10"/>
          <p:cNvSpPr/>
          <p:nvPr/>
        </p:nvSpPr>
        <p:spPr>
          <a:xfrm>
            <a:off x="415217" y="6332058"/>
            <a:ext cx="5286005" cy="110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72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PROCESAMIENTO: PANDAS ENGINE</a:t>
            </a:r>
            <a:endParaRPr lang="en-US" sz="900" dirty="0"/>
          </a:p>
        </p:txBody>
      </p:sp>
      <p:sp>
        <p:nvSpPr>
          <p:cNvPr id="26" name="Text 11"/>
          <p:cNvSpPr/>
          <p:nvPr/>
        </p:nvSpPr>
        <p:spPr>
          <a:xfrm>
            <a:off x="9216194" y="6332058"/>
            <a:ext cx="7362649" cy="110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72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MUESTRA: 4 GRADOS ESCOLARES (3° - 6°)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7" y="1646790"/>
            <a:ext cx="231913" cy="21203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87" y="2017851"/>
            <a:ext cx="5406887" cy="167308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113" y="2203381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113" y="2766598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113" y="3101216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026" y="1646790"/>
            <a:ext cx="231913" cy="21203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5026" y="2017851"/>
            <a:ext cx="5406887" cy="196007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4052" y="2203381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4052" y="3077403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087" y="4398893"/>
            <a:ext cx="11131826" cy="1614073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30087" y="530087"/>
            <a:ext cx="18139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spc="-103" kern="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y Proyección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530087" y="1040296"/>
            <a:ext cx="13801725" cy="1855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1"/>
              </a:lnSpc>
              <a:buNone/>
            </a:pPr>
            <a:r>
              <a:rPr lang="en-US" sz="1500" spc="173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HACIA UNA ANALÍTICA EDUCATIVA DE PRECISIÓN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841513" y="1646790"/>
            <a:ext cx="788670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0"/>
              </a:lnSpc>
              <a:buNone/>
            </a:pPr>
            <a:r>
              <a:rPr lang="en-US" sz="1800" b="1" spc="-52" kern="0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DE VALIDACIÓN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921026" y="2176877"/>
            <a:ext cx="4856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Consolidación de la arquitectura modular </a:t>
            </a:r>
            <a:pPr algn="l" indent="0" marL="0">
              <a:lnSpc>
                <a:spcPts val="1043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(conexion.py | analisis.py)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921026" y="2740094"/>
            <a:ext cx="1708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automatizado del IFEL con factores de fluidez ponderados.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921026" y="3074711"/>
            <a:ext cx="48569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de contraste empírico de métricas de riesgo vs. desempeño real.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6566452" y="1646790"/>
            <a:ext cx="4732020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70"/>
              </a:lnSpc>
              <a:buNone/>
            </a:pPr>
            <a:r>
              <a:rPr lang="en-US" sz="1800" b="1" spc="-52" kern="0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RUTA</a:t>
            </a:r>
            <a:endParaRPr lang="en-US" sz="1800" dirty="0"/>
          </a:p>
        </p:txBody>
      </p:sp>
      <p:sp>
        <p:nvSpPr>
          <p:cNvPr id="20" name="Text 7"/>
          <p:cNvSpPr/>
          <p:nvPr/>
        </p:nvSpPr>
        <p:spPr>
          <a:xfrm>
            <a:off x="6645965" y="2176877"/>
            <a:ext cx="6046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Visualización Avanzada: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6599583" y="2511494"/>
            <a:ext cx="482213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de Matplotlib para histogramas de riesgo y diagramas de dispersión velocidad vs. comprensión.</a:t>
            </a:r>
            <a:endParaRPr lang="en-US" sz="1050" dirty="0"/>
          </a:p>
        </p:txBody>
      </p:sp>
      <p:sp>
        <p:nvSpPr>
          <p:cNvPr id="22" name="Text 9"/>
          <p:cNvSpPr/>
          <p:nvPr/>
        </p:nvSpPr>
        <p:spPr>
          <a:xfrm>
            <a:off x="6645965" y="3050899"/>
            <a:ext cx="552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Técnica:</a:t>
            </a:r>
            <a:endParaRPr lang="en-US" sz="1200" dirty="0"/>
          </a:p>
        </p:txBody>
      </p:sp>
      <p:sp>
        <p:nvSpPr>
          <p:cNvPr id="23" name="Text 10"/>
          <p:cNvSpPr/>
          <p:nvPr/>
        </p:nvSpPr>
        <p:spPr>
          <a:xfrm>
            <a:off x="6599583" y="3385516"/>
            <a:ext cx="482213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persistencia binaria (.pkl) y robustez en la gestión de excepciones de usuario.</a:t>
            </a:r>
            <a:endParaRPr lang="en-US" sz="1050" dirty="0"/>
          </a:p>
        </p:txBody>
      </p:sp>
      <p:sp>
        <p:nvSpPr>
          <p:cNvPr id="24" name="Text 11"/>
          <p:cNvSpPr/>
          <p:nvPr/>
        </p:nvSpPr>
        <p:spPr>
          <a:xfrm>
            <a:off x="742122" y="4776581"/>
            <a:ext cx="10707757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094"/>
              </a:lnSpc>
              <a:buNone/>
            </a:pPr>
            <a:r>
              <a:rPr lang="en-US" sz="2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"Modelo </a:t>
            </a:r>
            <a:pPr algn="ctr" indent="0" marL="0">
              <a:lnSpc>
                <a:spcPts val="3094"/>
              </a:lnSpc>
              <a:buNone/>
            </a:pPr>
            <a:r>
              <a:rPr lang="en-US" sz="2250" b="1" dirty="0">
                <a:solidFill>
                  <a:srgbClr val="B04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 en validación</a:t>
            </a:r>
            <a:pPr algn="ctr" indent="0" marL="0">
              <a:lnSpc>
                <a:spcPts val="3094"/>
              </a:lnSpc>
              <a:buNone/>
            </a:pPr>
            <a:r>
              <a:rPr lang="en-US" sz="22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expansión futura a nuevos centros educativos."</a:t>
            </a:r>
            <a:endParaRPr lang="en-US" sz="2250" dirty="0"/>
          </a:p>
        </p:txBody>
      </p:sp>
      <p:sp>
        <p:nvSpPr>
          <p:cNvPr id="25" name="Text 12"/>
          <p:cNvSpPr/>
          <p:nvPr/>
        </p:nvSpPr>
        <p:spPr>
          <a:xfrm>
            <a:off x="-2031682" y="5668410"/>
            <a:ext cx="16255365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de la precisión diagnóstica en el entorno escolar 2026.</a:t>
            </a:r>
            <a:endParaRPr lang="en-US" sz="1050" dirty="0"/>
          </a:p>
        </p:txBody>
      </p:sp>
      <p:sp>
        <p:nvSpPr>
          <p:cNvPr id="26" name="Text 13"/>
          <p:cNvSpPr/>
          <p:nvPr/>
        </p:nvSpPr>
        <p:spPr>
          <a:xfrm>
            <a:off x="530087" y="6221896"/>
            <a:ext cx="5915025" cy="10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35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DESARROLLADO PARA: LEMAR EDUCA</a:t>
            </a:r>
            <a:endParaRPr lang="en-US" sz="900" dirty="0"/>
          </a:p>
        </p:txBody>
      </p:sp>
      <p:sp>
        <p:nvSpPr>
          <p:cNvPr id="27" name="Text 14"/>
          <p:cNvSpPr/>
          <p:nvPr/>
        </p:nvSpPr>
        <p:spPr>
          <a:xfrm>
            <a:off x="8733183" y="6221896"/>
            <a:ext cx="5915025" cy="10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35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 DE PRESENTACIÓN TÉCNICA</a:t>
            </a:r>
            <a:endParaRPr lang="en-US" sz="900" dirty="0"/>
          </a:p>
        </p:txBody>
      </p:sp>
      <p:sp>
        <p:nvSpPr>
          <p:cNvPr id="28" name="Text 15"/>
          <p:cNvSpPr/>
          <p:nvPr/>
        </p:nvSpPr>
        <p:spPr>
          <a:xfrm>
            <a:off x="10827026" y="6221896"/>
            <a:ext cx="197167" cy="10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35"/>
              </a:lnSpc>
              <a:buNone/>
            </a:pPr>
            <a:r>
              <a:rPr lang="en-US" sz="900" dirty="0">
                <a:solidFill>
                  <a:srgbClr val="B04A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900" dirty="0"/>
          </a:p>
        </p:txBody>
      </p:sp>
      <p:sp>
        <p:nvSpPr>
          <p:cNvPr id="29" name="Text 16"/>
          <p:cNvSpPr/>
          <p:nvPr/>
        </p:nvSpPr>
        <p:spPr>
          <a:xfrm>
            <a:off x="10999304" y="6221896"/>
            <a:ext cx="3023235" cy="10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835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2026-02-28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2026-02-27T22:34:26Z</dcterms:created>
  <dcterms:modified xsi:type="dcterms:W3CDTF">2026-02-27T22:34:26Z</dcterms:modified>
</cp:coreProperties>
</file>