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Nunito Light" pitchFamily="2" charset="0"/>
      <p:regular r:id="rId13"/>
      <p:italic r:id="rId14"/>
    </p:embeddedFont>
    <p:embeddedFont>
      <p:font typeface="Nunito Semi Bold" panose="020B0604020202020204" charset="0"/>
      <p:regular r:id="rId15"/>
    </p:embeddedFont>
    <p:embeddedFont>
      <p:font typeface="PT Sans" panose="020B0503020203020204" pitchFamily="34" charset="0"/>
      <p:regular r:id="rId16"/>
      <p:bold r:id="rId17"/>
      <p:italic r:id="rId18"/>
    </p:embeddedFont>
  </p:embeddedFontLst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2E"/>
    <a:srgbClr val="000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7696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9" Type="http://schemas.openxmlformats.org/officeDocument/2006/relationships/image" Target="../media/image3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3" y="2000297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Sistema de análisis de comprension lectora e índice de fluidez efectiva (IFEL)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464905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Procesamiento ETL y Analítica con Python y MySQL</a:t>
            </a:r>
          </a:p>
          <a:p>
            <a:pPr>
              <a:lnSpc>
                <a:spcPts val="3000"/>
              </a:lnSpc>
            </a:pPr>
            <a:r>
              <a:rPr lang="es-ES" sz="2400" dirty="0">
                <a:solidFill>
                  <a:srgbClr val="FFFFFF"/>
                </a:solidFill>
                <a:latin typeface="PT Sans" pitchFamily="34" charset="0"/>
              </a:rPr>
              <a:t>Proyecto aplicado a diagnóstico lector en educación básica</a:t>
            </a:r>
            <a:endParaRPr lang="en-US" sz="2400" dirty="0">
              <a:solidFill>
                <a:srgbClr val="FFFFFF"/>
              </a:solidFill>
              <a:latin typeface="PT Sans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37724" y="5484851"/>
            <a:ext cx="7468553" cy="210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Presentado por:</a:t>
            </a:r>
          </a:p>
          <a:p>
            <a:pPr marL="800100" lvl="1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	Carlos Zevallos Díaz</a:t>
            </a:r>
          </a:p>
          <a:p>
            <a:pPr marL="800100" lvl="1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	Edwin Basilio Salazar</a:t>
            </a:r>
          </a:p>
          <a:p>
            <a:pPr marL="800100" lvl="1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	Juan Carlos Torres Romero</a:t>
            </a:r>
          </a:p>
          <a:p>
            <a:pPr marL="800100" lvl="1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	Ricardo Montero Gamarra </a:t>
            </a:r>
          </a:p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0213" y="877610"/>
            <a:ext cx="7643574" cy="126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Introducción y Contexto del Proyecto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750213" y="2426375"/>
            <a:ext cx="3725823" cy="2854166"/>
          </a:xfrm>
          <a:prstGeom prst="roundRect">
            <a:avLst>
              <a:gd name="adj" fmla="val 11266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2"/>
          <p:cNvSpPr/>
          <p:nvPr/>
        </p:nvSpPr>
        <p:spPr>
          <a:xfrm>
            <a:off x="987385" y="2663547"/>
            <a:ext cx="2521982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El Contexto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87385" y="3093839"/>
            <a:ext cx="3251478" cy="162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 proyecto surge de la necesidad crítica de medir la competencia lectora de forma integral y objetiva en entornos escolares de educación básica.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4667964" y="2426375"/>
            <a:ext cx="3725823" cy="2854166"/>
          </a:xfrm>
          <a:prstGeom prst="roundRect">
            <a:avLst>
              <a:gd name="adj" fmla="val 11266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4905137" y="2663547"/>
            <a:ext cx="2521982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El Problema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905137" y="3093839"/>
            <a:ext cx="3251478" cy="1949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 análisis manual de la fluidez y comprensión lectora es un proceso lento, tedioso y altamente propenso a errores humanos, lo que impide una intervención pedagógica oportuna.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50213" y="5472470"/>
            <a:ext cx="7643574" cy="1879402"/>
          </a:xfrm>
          <a:prstGeom prst="roundRect">
            <a:avLst>
              <a:gd name="adj" fmla="val 17109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987385" y="5709642"/>
            <a:ext cx="2521982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La Solución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87385" y="6139934"/>
            <a:ext cx="7169229" cy="974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 motor analítico inteligente que transforma datos crudos en indicadores objetivos de riesgo y excelencia, permitiendo decisiones pedagógicas basadas en evidencia.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41339"/>
            <a:ext cx="579048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Objetivos del Proyecto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324106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3700463"/>
            <a:ext cx="4158734" cy="30480"/>
          </a:xfrm>
          <a:prstGeom prst="rect">
            <a:avLst/>
          </a:prstGeom>
          <a:solidFill>
            <a:srgbClr val="F2B4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837724" y="3881080"/>
            <a:ext cx="303335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Centralización de Datos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7724" y="4376618"/>
            <a:ext cx="4158734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Conectar y extraer datos de forma segura desde una base de datos relacional MySQL (lemar_lectura) mediante interfaces programáticas.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5235773" y="3324106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5235773" y="3700463"/>
            <a:ext cx="4158734" cy="30480"/>
          </a:xfrm>
          <a:prstGeom prst="rect">
            <a:avLst/>
          </a:prstGeom>
          <a:solidFill>
            <a:srgbClr val="D7425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5235773" y="3881080"/>
            <a:ext cx="343697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Estandarización y Limpieza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35773" y="4376618"/>
            <a:ext cx="4158734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Normalizar registros mediante técnicas avanzadas de limpieza de </a:t>
            </a:r>
            <a:r>
              <a:rPr lang="en-US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datos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para garantizar calidad y consistencia.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9633823" y="3324106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9633823" y="3700463"/>
            <a:ext cx="4158853" cy="30480"/>
          </a:xfrm>
          <a:prstGeom prst="rect">
            <a:avLst/>
          </a:prstGeom>
          <a:solidFill>
            <a:srgbClr val="DD785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9633823" y="388108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Diagnóstico Objetivo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33823" y="4376618"/>
            <a:ext cx="41588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Implementar el índice IFEL (Índice de Fluidez Efectiva Lemar) para clasificar el rendimiento lector de los alumnos de manera objetiva y estandarizada.</a:t>
            </a:r>
            <a:endParaRPr lang="en-US" sz="185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314DFB2-5E2E-5315-E109-0CEE543A5B62}"/>
              </a:ext>
            </a:extLst>
          </p:cNvPr>
          <p:cNvSpPr/>
          <p:nvPr/>
        </p:nvSpPr>
        <p:spPr>
          <a:xfrm>
            <a:off x="12823902" y="7727795"/>
            <a:ext cx="1706137" cy="479503"/>
          </a:xfrm>
          <a:prstGeom prst="rect">
            <a:avLst/>
          </a:prstGeom>
          <a:solidFill>
            <a:srgbClr val="00002E"/>
          </a:solidFill>
          <a:ln>
            <a:solidFill>
              <a:srgbClr val="0100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rgbClr val="00002E"/>
                </a:solidFill>
              </a:ln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4952" y="817959"/>
            <a:ext cx="6073140" cy="671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Arquitectura del Sistema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284952" y="1815227"/>
            <a:ext cx="7546896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 sistema se diseña con una arquitectura modular que separa claramente las responsabilidades de cada componente: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952" y="2772608"/>
            <a:ext cx="1140857" cy="136898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43217" y="3000732"/>
            <a:ext cx="2684502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Conexión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7643217" y="3466743"/>
            <a:ext cx="6188631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Interfaz segura con el motor SQL mediante mysql.connector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4952" y="4141589"/>
            <a:ext cx="1140857" cy="163496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643217" y="4369713"/>
            <a:ext cx="2684502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Análisis</a:t>
            </a:r>
            <a:endParaRPr lang="en-US" sz="2100" dirty="0"/>
          </a:p>
        </p:txBody>
      </p:sp>
      <p:sp>
        <p:nvSpPr>
          <p:cNvPr id="10" name="Text 5"/>
          <p:cNvSpPr/>
          <p:nvPr/>
        </p:nvSpPr>
        <p:spPr>
          <a:xfrm>
            <a:off x="7643217" y="4835723"/>
            <a:ext cx="6188631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Clase especializada en lógica de negocio y estadística descriptiva</a:t>
            </a:r>
            <a:endParaRPr lang="en-US" sz="1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4952" y="5776555"/>
            <a:ext cx="1140857" cy="163496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43217" y="6004679"/>
            <a:ext cx="2684502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Ejecución (main)</a:t>
            </a: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7643217" y="6470690"/>
            <a:ext cx="6188631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Punto de entrada principal que coordina todo el flujo de trabajo</a:t>
            </a:r>
            <a:endParaRPr lang="en-US" sz="175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1200225-D813-5B2E-FF41-6467F11BF231}"/>
              </a:ext>
            </a:extLst>
          </p:cNvPr>
          <p:cNvSpPr/>
          <p:nvPr/>
        </p:nvSpPr>
        <p:spPr>
          <a:xfrm>
            <a:off x="12823902" y="7727795"/>
            <a:ext cx="1706137" cy="479503"/>
          </a:xfrm>
          <a:prstGeom prst="rect">
            <a:avLst/>
          </a:prstGeom>
          <a:solidFill>
            <a:srgbClr val="00002E"/>
          </a:solidFill>
          <a:ln>
            <a:solidFill>
              <a:srgbClr val="0100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rgbClr val="00002E"/>
                </a:solidFill>
              </a:ln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38307"/>
            <a:ext cx="798183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Componente: Gestión de Datos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353389"/>
            <a:ext cx="8216265" cy="45858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5491" y="204061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conexion.py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45491" y="2631877"/>
            <a:ext cx="41546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Tecnología: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mysql.connector para Python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645491" y="3613309"/>
            <a:ext cx="4154686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Configuración: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Manejo de codificación utf8mb4 para asegurar la integridad de caracteres especiales (tildes, eñes) en nombres de alumnos y secciones educativas.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645491" y="5743813"/>
            <a:ext cx="4154686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Seguridad: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Centralización de credenciales en configuración externa y gestión automática de apertura/cierre de sesiones de base de datos.</a:t>
            </a:r>
            <a:endParaRPr lang="en-US" sz="185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331C609-0342-9478-19D8-99A314C78BDD}"/>
              </a:ext>
            </a:extLst>
          </p:cNvPr>
          <p:cNvSpPr/>
          <p:nvPr/>
        </p:nvSpPr>
        <p:spPr>
          <a:xfrm>
            <a:off x="12823902" y="7727795"/>
            <a:ext cx="1706137" cy="479503"/>
          </a:xfrm>
          <a:prstGeom prst="rect">
            <a:avLst/>
          </a:prstGeom>
          <a:solidFill>
            <a:srgbClr val="00002E"/>
          </a:solidFill>
          <a:ln>
            <a:solidFill>
              <a:srgbClr val="0100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rgbClr val="00002E"/>
                </a:solidFill>
              </a:ln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78537"/>
            <a:ext cx="762702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Componente: Lógica Analítica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198084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analisys.py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2572107"/>
            <a:ext cx="41546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Motor: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Basado en </a:t>
            </a:r>
            <a:r>
              <a:rPr lang="en-US" sz="1850" dirty="0">
                <a:solidFill>
                  <a:srgbClr val="48A8E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Pandas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para manejo eficiente de DataFrames.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3553539"/>
            <a:ext cx="415468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Procesamiento: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151947"/>
            <a:ext cx="4154686" cy="3315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Limpieza de ruido en textos (espacios en blanco, normalización de casos)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Conversión a mayúsculas para estandarización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Cálculo de estadísticas descriptivas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Correlaciones de Pearson entre velocidad y comprensión</a:t>
            </a:r>
            <a:endParaRPr lang="en-US" sz="18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3912" y="2353270"/>
            <a:ext cx="8216265" cy="4585811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D67F23A2-0010-5E36-AFF7-764FA6A1DFD4}"/>
              </a:ext>
            </a:extLst>
          </p:cNvPr>
          <p:cNvSpPr/>
          <p:nvPr/>
        </p:nvSpPr>
        <p:spPr>
          <a:xfrm>
            <a:off x="12823902" y="7727795"/>
            <a:ext cx="1706137" cy="479503"/>
          </a:xfrm>
          <a:prstGeom prst="rect">
            <a:avLst/>
          </a:prstGeom>
          <a:solidFill>
            <a:srgbClr val="00002E"/>
          </a:solidFill>
          <a:ln>
            <a:solidFill>
              <a:srgbClr val="0100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rgbClr val="00002E"/>
                </a:solidFill>
              </a:ln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4651" y="793313"/>
            <a:ext cx="4497229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El Índice IFEL (Fluidez Efectiva)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2924651" y="1343620"/>
            <a:ext cx="8780978" cy="169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Una métrica innovadora que pondera la comprensión lectora basándose en la velocidad de lectura: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264462" y="2477453"/>
            <a:ext cx="1662946" cy="338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1.00</a:t>
            </a:r>
            <a:endParaRPr lang="en-US" sz="2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939" y="1632466"/>
            <a:ext cx="2028111" cy="20281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00657" y="3770590"/>
            <a:ext cx="159067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Fluidez Óptima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924651" y="4015145"/>
            <a:ext cx="4342805" cy="169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Lectura entre 80-160 ppm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702635" y="2477453"/>
            <a:ext cx="1662946" cy="338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0.85</a:t>
            </a:r>
            <a:endParaRPr lang="en-US" sz="26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0113" y="1632466"/>
            <a:ext cx="2028111" cy="202811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738830" y="3770590"/>
            <a:ext cx="159067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Lectura Lenta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362825" y="4015145"/>
            <a:ext cx="4342805" cy="169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Penalización por baja velocidad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264462" y="5215771"/>
            <a:ext cx="1662946" cy="338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0.90</a:t>
            </a:r>
            <a:endParaRPr lang="en-US" sz="26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1939" y="4370784"/>
            <a:ext cx="2028111" cy="202811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00657" y="6508909"/>
            <a:ext cx="159067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Lectura Rápida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2924651" y="6753463"/>
            <a:ext cx="4342805" cy="169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Penalización por lectura mecánica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8702635" y="5215771"/>
            <a:ext cx="1662946" cy="338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0.70</a:t>
            </a:r>
            <a:endParaRPr lang="en-US" sz="26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0113" y="4370784"/>
            <a:ext cx="2028111" cy="202811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738830" y="6508909"/>
            <a:ext cx="159067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Sin Datos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7362825" y="6753463"/>
            <a:ext cx="4342805" cy="169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Penalización por ausencia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2924651" y="7008614"/>
            <a:ext cx="8780978" cy="427673"/>
          </a:xfrm>
          <a:prstGeom prst="roundRect">
            <a:avLst>
              <a:gd name="adj" fmla="val 47425"/>
            </a:avLst>
          </a:prstGeom>
          <a:solidFill>
            <a:srgbClr val="483304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9787" y="7188637"/>
            <a:ext cx="168950" cy="13513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363873" y="7118628"/>
            <a:ext cx="8206621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Fórmula:</a:t>
            </a: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050" i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IFEL = \%Comprensión \times FactorFluidez</a:t>
            </a:r>
            <a:endParaRPr lang="en-US" sz="1050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9ED7434B-39BD-15A2-921C-C3D2D97C9B63}"/>
              </a:ext>
            </a:extLst>
          </p:cNvPr>
          <p:cNvSpPr/>
          <p:nvPr/>
        </p:nvSpPr>
        <p:spPr>
          <a:xfrm>
            <a:off x="12823902" y="7727795"/>
            <a:ext cx="1706137" cy="479503"/>
          </a:xfrm>
          <a:prstGeom prst="rect">
            <a:avLst/>
          </a:prstGeom>
          <a:solidFill>
            <a:srgbClr val="00002E"/>
          </a:solidFill>
          <a:ln>
            <a:solidFill>
              <a:srgbClr val="0100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rgbClr val="00002E"/>
                </a:solidFill>
              </a:ln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1652" y="661988"/>
            <a:ext cx="7578447" cy="69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Clasificación de Riesgo Lector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262908" y="1832610"/>
            <a:ext cx="1620798" cy="1344692"/>
          </a:xfrm>
          <a:prstGeom prst="roundRect">
            <a:avLst>
              <a:gd name="adj" fmla="val 26507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6202" y="2337911"/>
            <a:ext cx="334089" cy="3340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21235" y="2070140"/>
            <a:ext cx="2795468" cy="349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Riesgo Bajo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121235" y="2561034"/>
            <a:ext cx="4057055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Nivel de competencia óptimo alcanzado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5002411" y="3162062"/>
            <a:ext cx="8677632" cy="15240"/>
          </a:xfrm>
          <a:prstGeom prst="roundRect">
            <a:avLst>
              <a:gd name="adj" fmla="val 2338788"/>
            </a:avLst>
          </a:prstGeom>
          <a:solidFill>
            <a:srgbClr val="F2B4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Shape 5"/>
          <p:cNvSpPr/>
          <p:nvPr/>
        </p:nvSpPr>
        <p:spPr>
          <a:xfrm>
            <a:off x="2452449" y="3296007"/>
            <a:ext cx="3241715" cy="1344692"/>
          </a:xfrm>
          <a:prstGeom prst="roundRect">
            <a:avLst>
              <a:gd name="adj" fmla="val 26507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6202" y="3801308"/>
            <a:ext cx="334089" cy="33408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31694" y="3533537"/>
            <a:ext cx="2795468" cy="349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Riesgo Medio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931694" y="4024432"/>
            <a:ext cx="4417100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 proceso de consolidación de habilidades</a:t>
            </a:r>
            <a:endParaRPr lang="en-US" sz="1850" dirty="0"/>
          </a:p>
        </p:txBody>
      </p:sp>
      <p:sp>
        <p:nvSpPr>
          <p:cNvPr id="12" name="Shape 8"/>
          <p:cNvSpPr/>
          <p:nvPr/>
        </p:nvSpPr>
        <p:spPr>
          <a:xfrm>
            <a:off x="5812869" y="4625459"/>
            <a:ext cx="7867174" cy="15240"/>
          </a:xfrm>
          <a:prstGeom prst="roundRect">
            <a:avLst>
              <a:gd name="adj" fmla="val 2338788"/>
            </a:avLst>
          </a:prstGeom>
          <a:solidFill>
            <a:srgbClr val="D7425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Shape 9"/>
          <p:cNvSpPr/>
          <p:nvPr/>
        </p:nvSpPr>
        <p:spPr>
          <a:xfrm>
            <a:off x="1641991" y="4759404"/>
            <a:ext cx="4862632" cy="1344692"/>
          </a:xfrm>
          <a:prstGeom prst="roundRect">
            <a:avLst>
              <a:gd name="adj" fmla="val 26507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06202" y="5264706"/>
            <a:ext cx="334089" cy="33408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42152" y="4996934"/>
            <a:ext cx="2795468" cy="349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Riesgo Alto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6742152" y="5487829"/>
            <a:ext cx="3158490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Comprensión deficiente (&lt;60%)</a:t>
            </a:r>
            <a:endParaRPr lang="en-US" sz="1850" dirty="0"/>
          </a:p>
        </p:txBody>
      </p:sp>
      <p:sp>
        <p:nvSpPr>
          <p:cNvPr id="17" name="Shape 12"/>
          <p:cNvSpPr/>
          <p:nvPr/>
        </p:nvSpPr>
        <p:spPr>
          <a:xfrm>
            <a:off x="6623328" y="6088856"/>
            <a:ext cx="7056715" cy="15240"/>
          </a:xfrm>
          <a:prstGeom prst="roundRect">
            <a:avLst>
              <a:gd name="adj" fmla="val 2338788"/>
            </a:avLst>
          </a:prstGeom>
          <a:solidFill>
            <a:srgbClr val="DD785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Shape 13"/>
          <p:cNvSpPr/>
          <p:nvPr/>
        </p:nvSpPr>
        <p:spPr>
          <a:xfrm>
            <a:off x="831652" y="6222802"/>
            <a:ext cx="6483548" cy="1344692"/>
          </a:xfrm>
          <a:prstGeom prst="roundRect">
            <a:avLst>
              <a:gd name="adj" fmla="val 26507"/>
            </a:avLst>
          </a:prstGeom>
          <a:solidFill>
            <a:srgbClr val="00002E"/>
          </a:solidFill>
          <a:ln w="22860">
            <a:solidFill>
              <a:srgbClr val="48A8E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6322" y="6728103"/>
            <a:ext cx="334089" cy="33408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52730" y="6460331"/>
            <a:ext cx="2795468" cy="349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Riesgo Crítico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7552730" y="6951226"/>
            <a:ext cx="3926919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&lt;50% de comprensión y baja velocidad</a:t>
            </a:r>
            <a:endParaRPr lang="en-US" sz="1850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6BF332E-54CC-055C-E7C8-FCE7C7AEC14A}"/>
              </a:ext>
            </a:extLst>
          </p:cNvPr>
          <p:cNvSpPr/>
          <p:nvPr/>
        </p:nvSpPr>
        <p:spPr>
          <a:xfrm>
            <a:off x="12823902" y="7727795"/>
            <a:ext cx="1706137" cy="479503"/>
          </a:xfrm>
          <a:prstGeom prst="rect">
            <a:avLst/>
          </a:prstGeom>
          <a:solidFill>
            <a:srgbClr val="00002E"/>
          </a:solidFill>
          <a:ln>
            <a:solidFill>
              <a:srgbClr val="0100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rgbClr val="00002E"/>
                </a:solidFill>
              </a:ln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124783"/>
            <a:ext cx="867001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Reportes y Alertas Institucionales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724" y="2307550"/>
            <a:ext cx="598408" cy="5984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320516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Análisis por Grado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3700701"/>
            <a:ext cx="632781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Identificación de las secciones con mayor porcentaje de riesgo para intervención priorizada.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4743" y="2307550"/>
            <a:ext cx="598408" cy="598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64743" y="320516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Lectores Mecánicos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64743" y="3700701"/>
            <a:ext cx="63279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Detección de estudiantes con alta velocidad pero nula comprensión mediante análisis de correlación.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7724" y="4945499"/>
            <a:ext cx="598408" cy="5984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7724" y="5843111"/>
            <a:ext cx="380738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Lectores Lentos con Potencial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37724" y="6338649"/>
            <a:ext cx="632781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Alumnos con alta comprensión que requieren mayor práctica de fluidez para optimizar rendimiento.</a:t>
            </a:r>
            <a:endParaRPr lang="en-US" sz="1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64743" y="4945499"/>
            <a:ext cx="598408" cy="5984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64743" y="584311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Ranking Top N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64743" y="6338649"/>
            <a:ext cx="63279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Visibilidad de los mejores desempeños mediante clasificación por IFEL para reconocimiento institucional.</a:t>
            </a:r>
            <a:endParaRPr lang="en-US" sz="185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504B0A0-00F2-99E3-E75E-3F8598C86A62}"/>
              </a:ext>
            </a:extLst>
          </p:cNvPr>
          <p:cNvSpPr/>
          <p:nvPr/>
        </p:nvSpPr>
        <p:spPr>
          <a:xfrm>
            <a:off x="12823902" y="7727795"/>
            <a:ext cx="1706137" cy="479503"/>
          </a:xfrm>
          <a:prstGeom prst="rect">
            <a:avLst/>
          </a:prstGeom>
          <a:solidFill>
            <a:srgbClr val="00002E"/>
          </a:solidFill>
          <a:ln>
            <a:solidFill>
              <a:srgbClr val="0100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rgbClr val="00002E"/>
                </a:solidFill>
              </a:ln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359" y="691158"/>
            <a:ext cx="6831568" cy="653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Conclusiones y Escalabilidad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777359" y="1653421"/>
            <a:ext cx="3691652" cy="3181945"/>
          </a:xfrm>
          <a:prstGeom prst="roundRect">
            <a:avLst>
              <a:gd name="adj" fmla="val 10470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2"/>
          <p:cNvSpPr/>
          <p:nvPr/>
        </p:nvSpPr>
        <p:spPr>
          <a:xfrm>
            <a:off x="1022271" y="1898333"/>
            <a:ext cx="666274" cy="666274"/>
          </a:xfrm>
          <a:prstGeom prst="roundRect">
            <a:avLst>
              <a:gd name="adj" fmla="val 13722711"/>
            </a:avLst>
          </a:prstGeom>
          <a:solidFill>
            <a:srgbClr val="F2B42D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5508" y="2081451"/>
            <a:ext cx="299799" cy="2997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2271" y="2770584"/>
            <a:ext cx="2612946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Impacto Operativo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1022271" y="3220760"/>
            <a:ext cx="3201829" cy="1369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Reducción del tiempo de diagnóstico institucional en un </a:t>
            </a:r>
            <a:r>
              <a:rPr lang="en-US" sz="1700" b="1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90%</a:t>
            </a: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comparado con métodos manuales.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4674989" y="1653421"/>
            <a:ext cx="3691652" cy="3181945"/>
          </a:xfrm>
          <a:prstGeom prst="roundRect">
            <a:avLst>
              <a:gd name="adj" fmla="val 10470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6"/>
          <p:cNvSpPr/>
          <p:nvPr/>
        </p:nvSpPr>
        <p:spPr>
          <a:xfrm>
            <a:off x="4919901" y="1898333"/>
            <a:ext cx="666274" cy="666274"/>
          </a:xfrm>
          <a:prstGeom prst="roundRect">
            <a:avLst>
              <a:gd name="adj" fmla="val 13722711"/>
            </a:avLst>
          </a:prstGeom>
          <a:solidFill>
            <a:srgbClr val="D7425E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03138" y="2081451"/>
            <a:ext cx="299799" cy="29979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19901" y="2770584"/>
            <a:ext cx="2612946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Ciencia de Datos</a:t>
            </a:r>
            <a:endParaRPr lang="en-US" sz="2050" dirty="0"/>
          </a:p>
        </p:txBody>
      </p:sp>
      <p:sp>
        <p:nvSpPr>
          <p:cNvPr id="13" name="Text 8"/>
          <p:cNvSpPr/>
          <p:nvPr/>
        </p:nvSpPr>
        <p:spPr>
          <a:xfrm>
            <a:off x="4919901" y="3220760"/>
            <a:ext cx="3201829" cy="1369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 proyecto sienta las bases para modelos predictivos de éxito académico mediante machine learning.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777359" y="5041344"/>
            <a:ext cx="7589282" cy="2497098"/>
          </a:xfrm>
          <a:prstGeom prst="roundRect">
            <a:avLst>
              <a:gd name="adj" fmla="val 13342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0"/>
          <p:cNvSpPr/>
          <p:nvPr/>
        </p:nvSpPr>
        <p:spPr>
          <a:xfrm>
            <a:off x="1022271" y="5286256"/>
            <a:ext cx="666274" cy="666274"/>
          </a:xfrm>
          <a:prstGeom prst="roundRect">
            <a:avLst>
              <a:gd name="adj" fmla="val 13722711"/>
            </a:avLst>
          </a:prstGeom>
          <a:solidFill>
            <a:srgbClr val="DD785E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5508" y="5469374"/>
            <a:ext cx="299799" cy="29979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22271" y="6158508"/>
            <a:ext cx="2612946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Escalabilidad Futura</a:t>
            </a:r>
            <a:endParaRPr lang="en-US" sz="2050" dirty="0"/>
          </a:p>
        </p:txBody>
      </p:sp>
      <p:sp>
        <p:nvSpPr>
          <p:cNvPr id="18" name="Text 12"/>
          <p:cNvSpPr/>
          <p:nvPr/>
        </p:nvSpPr>
        <p:spPr>
          <a:xfrm>
            <a:off x="1022271" y="6608683"/>
            <a:ext cx="7099459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Implementación de visualizaciones dinámicas con Dash/Plotly y carga masiva desde archivos externos (Excel/CSV).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617</Words>
  <Application>Microsoft Office PowerPoint</Application>
  <PresentationFormat>Personalizado</PresentationFormat>
  <Paragraphs>96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Nunito Semi Bold</vt:lpstr>
      <vt:lpstr>Arial</vt:lpstr>
      <vt:lpstr>PT Sans</vt:lpstr>
      <vt:lpstr>Nunito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Juan Carlos</dc:creator>
  <cp:lastModifiedBy>I202311545 (Zevallos Diaz,Carlos Eduardo)</cp:lastModifiedBy>
  <cp:revision>3</cp:revision>
  <dcterms:created xsi:type="dcterms:W3CDTF">2026-02-27T05:07:51Z</dcterms:created>
  <dcterms:modified xsi:type="dcterms:W3CDTF">2026-02-27T21:57:29Z</dcterms:modified>
</cp:coreProperties>
</file>