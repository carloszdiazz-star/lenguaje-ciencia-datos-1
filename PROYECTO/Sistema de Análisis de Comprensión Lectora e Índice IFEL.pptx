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81025"/>
            <a:ext cx="7459861" cy="224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SISTEMA DE ANÁLISIS DE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
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COMPRENSIÓN LECTORA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
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E ÍNDICE DE FLUIDEZ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
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B214D"/>
                </a:solidFill>
                <a:latin typeface="Shippori Mincho B1 Extra" pitchFamily="34" charset="0"/>
                <a:ea typeface="Shippori Mincho B1 Extra" pitchFamily="34" charset="-122"/>
                <a:cs typeface="Shippori Mincho B1 Extra" pitchFamily="34" charset="-120"/>
              </a:rPr>
              <a:t>EFFECTIVA (IFEL)</a:t>
            </a:r>
            <a:endParaRPr lang="en-US" sz="3675" dirty="0"/>
          </a:p>
        </p:txBody>
      </p:sp>
      <p:sp>
        <p:nvSpPr>
          <p:cNvPr id="4" name="Text 1"/>
          <p:cNvSpPr/>
          <p:nvPr/>
        </p:nvSpPr>
        <p:spPr>
          <a:xfrm>
            <a:off x="714375" y="3000375"/>
            <a:ext cx="6789420" cy="44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465"/>
              </a:lnSpc>
              <a:buNone/>
            </a:pPr>
            <a:r>
              <a:rPr lang="en-US" sz="2475" b="1" dirty="0">
                <a:solidFill>
                  <a:srgbClr val="F98F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 Académico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714375" y="5391150"/>
            <a:ext cx="1110996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0B21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Docente: Jean Carlos Laurente Chacon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9429750" y="619125"/>
            <a:ext cx="3566160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510"/>
              </a:lnSpc>
              <a:buNone/>
            </a:pPr>
            <a:r>
              <a:rPr lang="en-US" sz="2925" b="1" dirty="0">
                <a:solidFill>
                  <a:srgbClr val="1F4E7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CIBERTEC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714375" y="3686175"/>
            <a:ext cx="3845123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Integrantes: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Carlos Zevallos Diaz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Edwin Basilio Salazar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Carlos Torres Romero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Ricardo Montero Gamarra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714375" y="6000750"/>
            <a:ext cx="8001000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5B5B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Fecha de Reporte: 2026-02-28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455" y="1446907"/>
            <a:ext cx="4791373" cy="45398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7225" y="581025"/>
            <a:ext cx="1056132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1F57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Contexto del Problema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657225" y="1600200"/>
            <a:ext cx="102412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D37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 en la Evaluación Lectora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71525" y="4371975"/>
            <a:ext cx="630936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D37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 Identificada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771525" y="4714875"/>
            <a:ext cx="6464498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Lemar Educa requiere herramientas que optimicen la toma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 decisiones pedagógicas, especialmente en regiones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donde la comprensión lectora necesita mejoras sustanciales.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71525" y="2171700"/>
            <a:ext cx="6370290" cy="16804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La evaluación manual de comprensión lectora en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estudiantes de primaria (3º a 6º grado) presenta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ineficiencias significativas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Los procesos actuales son susceptibles a errores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humanos y requieren tiempos administrativos extensos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Existe una necesidad crítica de transformar datos crudos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en información estratégica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7225" y="5943600"/>
            <a:ext cx="64750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595959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Este proyecto surge como respuesta directa a la necesidad</a:t>
            </a:r>
            <a:pPr indent="0" marL="0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595959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950"/>
              </a:lnSpc>
              <a:buNone/>
            </a:pPr>
            <a:r>
              <a:rPr lang="en-US" sz="1500" i="1" dirty="0">
                <a:solidFill>
                  <a:srgbClr val="595959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 sistematizar el análisis de datos educativos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075" y="2619673"/>
            <a:ext cx="4072086" cy="36072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6" y="5753844"/>
            <a:ext cx="548580" cy="5417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86" y="5061198"/>
            <a:ext cx="548580" cy="52804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4361557"/>
            <a:ext cx="548580" cy="5005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86" y="3655219"/>
            <a:ext cx="548580" cy="5073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282" y="2729359"/>
            <a:ext cx="560784" cy="52804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350103" y="400050"/>
            <a:ext cx="13441680" cy="63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998"/>
              </a:lnSpc>
              <a:buNone/>
            </a:pPr>
            <a:r>
              <a:rPr lang="en-US" sz="4200" dirty="0">
                <a:solidFill>
                  <a:srgbClr val="162046"/>
                </a:solidFill>
                <a:latin typeface="FreckleFace-Regular" pitchFamily="34" charset="0"/>
                <a:ea typeface="FreckleFace-Regular" pitchFamily="34" charset="-122"/>
                <a:cs typeface="FreckleFace-Regular" pitchFamily="34" charset="-120"/>
              </a:rPr>
              <a:t>Objetivo del Proyecto</a:t>
            </a:r>
            <a:endParaRPr lang="en-US" sz="4200" dirty="0"/>
          </a:p>
        </p:txBody>
      </p:sp>
      <p:sp>
        <p:nvSpPr>
          <p:cNvPr id="10" name="Text 1"/>
          <p:cNvSpPr/>
          <p:nvPr/>
        </p:nvSpPr>
        <p:spPr>
          <a:xfrm>
            <a:off x="895350" y="1362075"/>
            <a:ext cx="11116568" cy="1097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Desarrollar un sistema en Python que automatice el análisis de</a:t>
            </a:r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resultados de evaluación de comprensión lectora para</a:t>
            </a:r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estudiantes de primaria.</a:t>
            </a:r>
            <a:endParaRPr lang="en-US" sz="2400" dirty="0"/>
          </a:p>
        </p:txBody>
      </p:sp>
      <p:sp>
        <p:nvSpPr>
          <p:cNvPr id="11" name="Text 2"/>
          <p:cNvSpPr/>
          <p:nvPr/>
        </p:nvSpPr>
        <p:spPr>
          <a:xfrm>
            <a:off x="1200150" y="2695575"/>
            <a:ext cx="690458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Realizar operaciones de carga y consulta de datos de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evaluación desde MySQL para el 100% de los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alumnos evaluados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1200150" y="3686175"/>
            <a:ext cx="646449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Clasificar los niveles de riesgo lector (Bajo, Medio,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Alto, Crítico) de los estudiantes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1200150" y="4400550"/>
            <a:ext cx="653787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Calcular el Índice de Fluidez Efectiva Lemar (IFEL),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combinando comprensión y velocidad lectora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1200150" y="5057775"/>
            <a:ext cx="594062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Generar reportes automáticos en menos de 5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segundos para 4 grados escolares (3° a 6°)</a:t>
            </a:r>
            <a:endParaRPr lang="en-US" sz="1800" dirty="0"/>
          </a:p>
        </p:txBody>
      </p:sp>
      <p:sp>
        <p:nvSpPr>
          <p:cNvPr id="15" name="Text 6"/>
          <p:cNvSpPr/>
          <p:nvPr/>
        </p:nvSpPr>
        <p:spPr>
          <a:xfrm>
            <a:off x="1200150" y="5772150"/>
            <a:ext cx="6810375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Proveer una herramienta de apoyo pedagógico para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identificación temprana de dificultades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992" y="3346698"/>
            <a:ext cx="3194298" cy="30791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867" y="3346698"/>
            <a:ext cx="3535561" cy="30448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86" y="3627834"/>
            <a:ext cx="3328392" cy="2263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1639252" y="400050"/>
            <a:ext cx="16184880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841"/>
              </a:lnSpc>
              <a:buNone/>
            </a:pPr>
            <a:r>
              <a:rPr lang="en-US" sz="4425" b="1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del Sistema</a:t>
            </a:r>
            <a:endParaRPr lang="en-US" sz="4425" dirty="0"/>
          </a:p>
        </p:txBody>
      </p:sp>
      <p:sp>
        <p:nvSpPr>
          <p:cNvPr id="7" name="Text 1"/>
          <p:cNvSpPr/>
          <p:nvPr/>
        </p:nvSpPr>
        <p:spPr>
          <a:xfrm>
            <a:off x="1268254" y="1104900"/>
            <a:ext cx="10241280" cy="42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336"/>
              </a:lnSpc>
              <a:buNone/>
            </a:pPr>
            <a:r>
              <a:rPr lang="en-US" sz="2400" b="1" dirty="0">
                <a:solidFill>
                  <a:srgbClr val="ED7D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Modular en Python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268114" y="1866900"/>
            <a:ext cx="37719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conexion.py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4379550" y="1866900"/>
            <a:ext cx="3646170" cy="35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analisis.py</a:t>
            </a:r>
            <a:endParaRPr lang="en-US" sz="2175" dirty="0"/>
          </a:p>
        </p:txBody>
      </p:sp>
      <p:sp>
        <p:nvSpPr>
          <p:cNvPr id="10" name="Text 4"/>
          <p:cNvSpPr/>
          <p:nvPr/>
        </p:nvSpPr>
        <p:spPr>
          <a:xfrm>
            <a:off x="8990112" y="1866900"/>
            <a:ext cx="24003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main.py</a:t>
            </a:r>
            <a:endParaRPr lang="en-US" sz="2250" dirty="0"/>
          </a:p>
        </p:txBody>
      </p:sp>
      <p:sp>
        <p:nvSpPr>
          <p:cNvPr id="11" name="Text 5"/>
          <p:cNvSpPr/>
          <p:nvPr/>
        </p:nvSpPr>
        <p:spPr>
          <a:xfrm>
            <a:off x="466725" y="2314575"/>
            <a:ext cx="3708946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Función: Gestión de conexión segura con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MySQL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Descripción: Establece comunicación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con base de datos lemar_lectura usando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mysql-connector</a:t>
            </a:r>
            <a:endParaRPr lang="en-US" sz="1275" dirty="0"/>
          </a:p>
        </p:txBody>
      </p:sp>
      <p:sp>
        <p:nvSpPr>
          <p:cNvPr id="12" name="Text 6"/>
          <p:cNvSpPr/>
          <p:nvPr/>
        </p:nvSpPr>
        <p:spPr>
          <a:xfrm>
            <a:off x="4429125" y="2314575"/>
            <a:ext cx="377190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Función: Lógica central de procesamiento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Descripción: Clase AnalisisLector con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métodos para carga de datos, clasificación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 riesgo y cálculo IFEL usando Pandas</a:t>
            </a:r>
            <a:endParaRPr lang="en-US" sz="1275" dirty="0"/>
          </a:p>
        </p:txBody>
      </p:sp>
      <p:sp>
        <p:nvSpPr>
          <p:cNvPr id="13" name="Text 7"/>
          <p:cNvSpPr/>
          <p:nvPr/>
        </p:nvSpPr>
        <p:spPr>
          <a:xfrm>
            <a:off x="8639175" y="2314575"/>
            <a:ext cx="3405188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Función: Interfaz de usuario interactiva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Descripción: Orquestrador del sistema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con menú de consola para acceso a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16204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funcionalidades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682" y="1686967"/>
            <a:ext cx="3364855" cy="40118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550" y="714375"/>
            <a:ext cx="20848320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031B40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Base de Datos y Estructura del Dataset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57225" y="1714500"/>
            <a:ext cx="1000125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4"/>
              </a:lnSpc>
              <a:buNone/>
            </a:pPr>
            <a:r>
              <a:rPr lang="en-US" sz="1875" b="1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 como Base de Datos Relacional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657225" y="4000500"/>
            <a:ext cx="704088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 Clave del Dataset: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95350" y="2114550"/>
            <a:ext cx="5500688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Almacenamiento persistente de registros</a:t>
            </a:r>
            <a:pPr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estudiantiles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95350" y="2476500"/>
            <a:ext cx="7360920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Tabla principal: `alumnos`</a:t>
            </a:r>
            <a:endParaRPr lang="en-US" sz="1725" dirty="0"/>
          </a:p>
        </p:txBody>
      </p:sp>
      <p:sp>
        <p:nvSpPr>
          <p:cNvPr id="9" name="Text 5"/>
          <p:cNvSpPr/>
          <p:nvPr/>
        </p:nvSpPr>
        <p:spPr>
          <a:xfrm>
            <a:off x="895350" y="2838450"/>
            <a:ext cx="9052560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Carga inicial desde archivo CSV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95350" y="3238500"/>
            <a:ext cx="11129010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Estudiantes de primaria (3º a 6º grado)</a:t>
            </a:r>
            <a:endParaRPr lang="en-US" sz="1725" dirty="0"/>
          </a:p>
        </p:txBody>
      </p:sp>
      <p:sp>
        <p:nvSpPr>
          <p:cNvPr id="11" name="Text 7"/>
          <p:cNvSpPr/>
          <p:nvPr/>
        </p:nvSpPr>
        <p:spPr>
          <a:xfrm>
            <a:off x="895350" y="4371975"/>
            <a:ext cx="9376410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Grado: Año escolar (3, 4, 5, 6)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895350" y="4733925"/>
            <a:ext cx="10778490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Sección: División del aula (A, B, C...)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895350" y="5095875"/>
            <a:ext cx="397088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Comprensión: Porcentaje de</a:t>
            </a:r>
            <a:pPr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comprensión lectora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895350" y="5467350"/>
            <a:ext cx="10858500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Velocidad: Palabras por minuto (PPM)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895350" y="5829300"/>
            <a:ext cx="10001250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Indicadores: Riesgo lector e IFEL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6686550" y="5876925"/>
            <a:ext cx="5217765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optimizada para análisis pedagógico y</a:t>
            </a:r>
            <a:pPr algn="ctr"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031B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 de reportes automáticos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788" y="2043559"/>
            <a:ext cx="4779169" cy="39844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601417" y="581025"/>
            <a:ext cx="20231100" cy="69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487"/>
              </a:lnSpc>
              <a:buNone/>
            </a:pPr>
            <a:r>
              <a:rPr lang="en-US" sz="442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Clasificación de Riesgo Lector</a:t>
            </a:r>
            <a:endParaRPr lang="en-US" sz="4425" dirty="0"/>
          </a:p>
        </p:txBody>
      </p:sp>
      <p:sp>
        <p:nvSpPr>
          <p:cNvPr id="5" name="Text 1"/>
          <p:cNvSpPr/>
          <p:nvPr/>
        </p:nvSpPr>
        <p:spPr>
          <a:xfrm>
            <a:off x="-987743" y="1276350"/>
            <a:ext cx="14881860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27"/>
              </a:lnSpc>
              <a:buNone/>
            </a:pPr>
            <a:r>
              <a:rPr lang="en-US" sz="2325" b="1" dirty="0">
                <a:solidFill>
                  <a:srgbClr val="F176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Categorización Automatizada de Estudiantes</a:t>
            </a:r>
            <a:endParaRPr lang="en-US" sz="2325" dirty="0"/>
          </a:p>
        </p:txBody>
      </p:sp>
      <p:sp>
        <p:nvSpPr>
          <p:cNvPr id="6" name="Text 2"/>
          <p:cNvSpPr/>
          <p:nvPr/>
        </p:nvSpPr>
        <p:spPr>
          <a:xfrm>
            <a:off x="-68148" y="2076450"/>
            <a:ext cx="3840480" cy="29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Riesgo Crítico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36188" y="2724150"/>
            <a:ext cx="3017520" cy="29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Riesgo Alto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5679" y="3371850"/>
            <a:ext cx="3291840" cy="29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Riesgo Medio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36188" y="4019550"/>
            <a:ext cx="3017520" cy="294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Riesgo Bajo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2025" y="5467350"/>
            <a:ext cx="5563493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Identificación temprana de dificultades</a:t>
            </a:r>
            <a:pPr indent="0" marL="0">
              <a:lnSpc>
                <a:spcPts val="26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Focalización de recursos pedagógicos</a:t>
            </a:r>
            <a:pPr indent="0" marL="0">
              <a:lnSpc>
                <a:spcPts val="26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44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Decisiones basadas en criterios objetivos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90825" y="1971675"/>
            <a:ext cx="4484340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Comprensión &lt; 50% Y Velocidad &lt; 80 ppm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Requiere intervención inmediata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790825" y="2667000"/>
            <a:ext cx="3415605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Comprensión &lt; 60%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Atención pedagógica prioritaria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2790825" y="3305175"/>
            <a:ext cx="235743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Comprensión &lt; 80%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Seguimiento regular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2790825" y="3952875"/>
            <a:ext cx="2849761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Comprensión ≥ 80%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Desempeño satisfactorio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200150" y="4686300"/>
            <a:ext cx="5835848" cy="43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Nota Técnica: Cuando la velocidad no está disponible, se</a:t>
            </a:r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considera como 0 para la evaluación de riesgo crítico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780" y="2331690"/>
            <a:ext cx="5266879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31690"/>
            <a:ext cx="5449788" cy="416956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428625"/>
            <a:ext cx="1792224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020E32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Análisis Institucional por Grado</a:t>
            </a:r>
            <a:endParaRPr lang="en-US" sz="3675" dirty="0"/>
          </a:p>
        </p:txBody>
      </p:sp>
      <p:sp>
        <p:nvSpPr>
          <p:cNvPr id="6" name="Text 1"/>
          <p:cNvSpPr/>
          <p:nvPr/>
        </p:nvSpPr>
        <p:spPr>
          <a:xfrm>
            <a:off x="771525" y="1114425"/>
            <a:ext cx="178308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F39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 de tendencias generales por nivel escolar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771525" y="1895475"/>
            <a:ext cx="8023860" cy="29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20E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Funcionalidades del Sistema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562725" y="5200650"/>
            <a:ext cx="538534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del sistema mostrando las opciones de análisis</a:t>
            </a:r>
            <a:pPr algn="ctr" indent="0" marL="0">
              <a:lnSpc>
                <a:spcPts val="162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162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disponibles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" y="4327327"/>
            <a:ext cx="2791867" cy="22425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550" y="533400"/>
            <a:ext cx="18173700" cy="5856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611"/>
              </a:lnSpc>
              <a:buNone/>
            </a:pPr>
            <a:r>
              <a:rPr lang="en-US" sz="3975" b="1" dirty="0">
                <a:solidFill>
                  <a:srgbClr val="0B21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Análisis Detallado por Sección</a:t>
            </a:r>
            <a:endParaRPr lang="en-US" sz="3975" dirty="0"/>
          </a:p>
        </p:txBody>
      </p:sp>
      <p:sp>
        <p:nvSpPr>
          <p:cNvPr id="5" name="Text 1"/>
          <p:cNvSpPr/>
          <p:nvPr/>
        </p:nvSpPr>
        <p:spPr>
          <a:xfrm>
            <a:off x="657225" y="1257300"/>
            <a:ext cx="16710660" cy="417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F176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Exploración granular del desempeño por aula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657225" y="1971675"/>
            <a:ext cx="9875520" cy="3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Análisis Comparativo por Sección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3209925" y="3990975"/>
            <a:ext cx="8023860" cy="3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Métricas Clave por Sección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914400" y="2419350"/>
            <a:ext cx="8193286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Promedios de comprensión y velocidad por sección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Distribución de niveles de riesgo en cada aula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Identificación de secciones prioritarias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3457575" y="4429125"/>
            <a:ext cx="7218908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Porcentaje de riesgo Alto + Crítico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Promedio de comprensión lectora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241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Impacto en el rendimiento general del grado</a:t>
            </a:r>
            <a:endParaRPr lang="en-US" sz="2175" dirty="0"/>
          </a:p>
        </p:txBody>
      </p:sp>
      <p:sp>
        <p:nvSpPr>
          <p:cNvPr id="10" name="Text 6"/>
          <p:cNvSpPr/>
          <p:nvPr/>
        </p:nvSpPr>
        <p:spPr>
          <a:xfrm>
            <a:off x="8515350" y="3429000"/>
            <a:ext cx="3457575" cy="13483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identificar la sección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mayor porcentaje de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y menor comprensión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intervención pedagógica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2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directa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796" y="2393305"/>
            <a:ext cx="2706588" cy="19887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57" y="5712619"/>
            <a:ext cx="377875" cy="335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9" y="4224486"/>
            <a:ext cx="609600" cy="3222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69" y="3861048"/>
            <a:ext cx="670471" cy="3290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69" y="3504307"/>
            <a:ext cx="646063" cy="3222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69" y="3161407"/>
            <a:ext cx="682675" cy="28113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14375" y="314325"/>
            <a:ext cx="17282160" cy="4960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906"/>
              </a:lnSpc>
              <a:buNone/>
            </a:pPr>
            <a:r>
              <a:rPr lang="en-US" sz="315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Indicador IFEL: Modelo en Validación</a:t>
            </a:r>
            <a:endParaRPr lang="en-US" sz="3150" dirty="0"/>
          </a:p>
        </p:txBody>
      </p:sp>
      <p:sp>
        <p:nvSpPr>
          <p:cNvPr id="10" name="Text 1"/>
          <p:cNvSpPr/>
          <p:nvPr/>
        </p:nvSpPr>
        <p:spPr>
          <a:xfrm>
            <a:off x="714375" y="923925"/>
            <a:ext cx="987552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14"/>
              </a:lnSpc>
              <a:buNone/>
            </a:pPr>
            <a:r>
              <a:rPr lang="en-US" sz="2025" b="1" dirty="0">
                <a:solidFill>
                  <a:srgbClr val="F992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Índice de Fluidez Efectiva LEMAR</a:t>
            </a:r>
            <a:endParaRPr lang="en-US" sz="2025" dirty="0"/>
          </a:p>
        </p:txBody>
      </p:sp>
      <p:sp>
        <p:nvSpPr>
          <p:cNvPr id="11" name="Text 2"/>
          <p:cNvSpPr/>
          <p:nvPr/>
        </p:nvSpPr>
        <p:spPr>
          <a:xfrm>
            <a:off x="1200150" y="2486025"/>
            <a:ext cx="1057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IFEL = Comprensión % × Factor Fluidez</a:t>
            </a:r>
            <a:endParaRPr lang="en-US" sz="1875" dirty="0"/>
          </a:p>
        </p:txBody>
      </p:sp>
      <p:sp>
        <p:nvSpPr>
          <p:cNvPr id="12" name="Text 3"/>
          <p:cNvSpPr/>
          <p:nvPr/>
        </p:nvSpPr>
        <p:spPr>
          <a:xfrm>
            <a:off x="838200" y="1524000"/>
            <a:ext cx="8518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Métrica preliminar que combina comprensión lectora y velocidad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 evaluar la calidad de lectura efectiva</a:t>
            </a:r>
            <a:endParaRPr lang="en-US" sz="1875" dirty="0"/>
          </a:p>
        </p:txBody>
      </p:sp>
      <p:sp>
        <p:nvSpPr>
          <p:cNvPr id="13" name="Text 4"/>
          <p:cNvSpPr/>
          <p:nvPr/>
        </p:nvSpPr>
        <p:spPr>
          <a:xfrm>
            <a:off x="838200" y="5372100"/>
            <a:ext cx="5961608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96"/>
              </a:lnSpc>
              <a:buNone/>
            </a:pPr>
            <a:r>
              <a:rPr lang="en-US" sz="90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Modelo en fase de validación pedagógica</a:t>
            </a:r>
            <a:pPr indent="0" marL="0">
              <a:lnSpc>
                <a:spcPts val="1296"/>
              </a:lnSpc>
              <a:buNone/>
            </a:pPr>
            <a:r>
              <a:rPr lang="en-US" sz="90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96"/>
              </a:lnSpc>
              <a:buNone/>
            </a:pPr>
            <a:r>
              <a:rPr lang="en-US" sz="90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es una métrica definitiva, sino una propuesta para análisis complementario</a:t>
            </a:r>
            <a:endParaRPr lang="en-US" sz="900" dirty="0"/>
          </a:p>
        </p:txBody>
      </p:sp>
      <p:sp>
        <p:nvSpPr>
          <p:cNvPr id="14" name="Text 5"/>
          <p:cNvSpPr/>
          <p:nvPr/>
        </p:nvSpPr>
        <p:spPr>
          <a:xfrm>
            <a:off x="838200" y="3162300"/>
            <a:ext cx="1608201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5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🐢 Velocidad &lt; 80 ppm: Factor 0.85 (penalización por lentitud)</a:t>
            </a:r>
            <a:endParaRPr lang="en-US" sz="1575" dirty="0"/>
          </a:p>
        </p:txBody>
      </p:sp>
      <p:sp>
        <p:nvSpPr>
          <p:cNvPr id="15" name="Text 6"/>
          <p:cNvSpPr/>
          <p:nvPr/>
        </p:nvSpPr>
        <p:spPr>
          <a:xfrm>
            <a:off x="838200" y="3476625"/>
            <a:ext cx="1512189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5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🏛️ Velocidad 80-160 ppm: Factor 1.00 (velocidad óptima)</a:t>
            </a:r>
            <a:endParaRPr lang="en-US" sz="1575" dirty="0"/>
          </a:p>
        </p:txBody>
      </p:sp>
      <p:sp>
        <p:nvSpPr>
          <p:cNvPr id="16" name="Text 7"/>
          <p:cNvSpPr/>
          <p:nvPr/>
        </p:nvSpPr>
        <p:spPr>
          <a:xfrm>
            <a:off x="838200" y="3800475"/>
            <a:ext cx="1840230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5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🐇 Velocidad &gt; 160 ppm: Factor 0.90 (penalización por rapidez excesiva)</a:t>
            </a:r>
            <a:endParaRPr lang="en-US" sz="1575" dirty="0"/>
          </a:p>
        </p:txBody>
      </p:sp>
      <p:sp>
        <p:nvSpPr>
          <p:cNvPr id="17" name="Text 8"/>
          <p:cNvSpPr/>
          <p:nvPr/>
        </p:nvSpPr>
        <p:spPr>
          <a:xfrm>
            <a:off x="838200" y="4114800"/>
            <a:ext cx="15041880" cy="28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5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📄 Sin datos de velocidad: Factor 0.70 (penalización mayor)</a:t>
            </a:r>
            <a:endParaRPr lang="en-US" sz="1575" dirty="0"/>
          </a:p>
        </p:txBody>
      </p:sp>
      <p:sp>
        <p:nvSpPr>
          <p:cNvPr id="18" name="Text 9"/>
          <p:cNvSpPr/>
          <p:nvPr/>
        </p:nvSpPr>
        <p:spPr>
          <a:xfrm>
            <a:off x="838200" y="4762500"/>
            <a:ext cx="9586913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Identifica casos de lectura mecánica: alta velocidad sin comprensión, o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comprensión adecuada con velocidad inadecuada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784" y="1673275"/>
            <a:ext cx="3450282" cy="49308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490" y="2153394"/>
            <a:ext cx="1097161" cy="93255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07663" y="304800"/>
            <a:ext cx="11304270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Resultados Preliminares</a:t>
            </a:r>
            <a:endParaRPr lang="en-US" sz="3225" dirty="0"/>
          </a:p>
        </p:txBody>
      </p:sp>
      <p:sp>
        <p:nvSpPr>
          <p:cNvPr id="6" name="Text 1"/>
          <p:cNvSpPr/>
          <p:nvPr/>
        </p:nvSpPr>
        <p:spPr>
          <a:xfrm>
            <a:off x="895350" y="2085975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31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Identificación Proactiva de Riesgos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895350" y="3609975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31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Análisis Multidimensional Completo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895350" y="5114925"/>
            <a:ext cx="803529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0031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Operacionalización del Indicador IFEL</a:t>
            </a:r>
            <a:endParaRPr lang="en-US" sz="1425" dirty="0"/>
          </a:p>
        </p:txBody>
      </p:sp>
      <p:sp>
        <p:nvSpPr>
          <p:cNvPr id="9" name="Text 4"/>
          <p:cNvSpPr/>
          <p:nvPr/>
        </p:nvSpPr>
        <p:spPr>
          <a:xfrm>
            <a:off x="1400175" y="1000125"/>
            <a:ext cx="10309771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ED7D3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Análisis basado en datos reales que demuestra eficiencia en la detección proactiva</a:t>
            </a:r>
            <a:pPr algn="ctr"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ED7D3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ED7D3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 riesgos y en la generación automatizada de reportes pedagógicos</a:t>
            </a:r>
            <a:endParaRPr lang="en-US" sz="1575" dirty="0"/>
          </a:p>
        </p:txBody>
      </p:sp>
      <p:sp>
        <p:nvSpPr>
          <p:cNvPr id="10" name="Text 5"/>
          <p:cNvSpPr/>
          <p:nvPr/>
        </p:nvSpPr>
        <p:spPr>
          <a:xfrm>
            <a:off x="752475" y="2514600"/>
            <a:ext cx="5783461" cy="7148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Clasificación exitosa de estudiantes en niveles de riesgo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Detección de alumnos con “Riesgo Crítico” y “Riesgo Alto”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Reducción del margen de error humano en diagnósticos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52475" y="4038600"/>
            <a:ext cx="5092005" cy="7148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Desagregación del rendimiento por grado y sección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Visión integral del panorama lector institucional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Identificación clara de áreas prioritarias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52475" y="5629275"/>
            <a:ext cx="5385346" cy="7148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Visualización de casos específicos de lectura mecánica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Identificación de patrones velocidad-comprensión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Casos típicos de gran utilidad pedagógica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591175" y="3429000"/>
            <a:ext cx="2546003" cy="13897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Eficiencia en Reportes: La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automatización ha mejorado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significativamente los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tiempos administrativos,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generando información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disponible de forma casi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2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instantánea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973" y="1707505"/>
            <a:ext cx="2487067" cy="2091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57" y="5362873"/>
            <a:ext cx="767953" cy="6994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98" y="4073575"/>
            <a:ext cx="828973" cy="836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98" y="2921496"/>
            <a:ext cx="828973" cy="7405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" y="1659582"/>
            <a:ext cx="853380" cy="809179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19175" y="533400"/>
            <a:ext cx="1200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162046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Limitaciones Actuales</a:t>
            </a:r>
            <a:endParaRPr lang="en-US" sz="3750" dirty="0"/>
          </a:p>
        </p:txBody>
      </p:sp>
      <p:sp>
        <p:nvSpPr>
          <p:cNvPr id="9" name="Text 1"/>
          <p:cNvSpPr/>
          <p:nvPr/>
        </p:nvSpPr>
        <p:spPr>
          <a:xfrm>
            <a:off x="2057400" y="1562100"/>
            <a:ext cx="61722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Entorno de Consola</a:t>
            </a:r>
            <a:endParaRPr lang="en-US" sz="2250" dirty="0"/>
          </a:p>
        </p:txBody>
      </p:sp>
      <p:sp>
        <p:nvSpPr>
          <p:cNvPr id="10" name="Text 2"/>
          <p:cNvSpPr/>
          <p:nvPr/>
        </p:nvSpPr>
        <p:spPr>
          <a:xfrm>
            <a:off x="2057400" y="2800350"/>
            <a:ext cx="102870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Ausencia de Gráficos Avanzados</a:t>
            </a:r>
            <a:endParaRPr lang="en-US" sz="2250" dirty="0"/>
          </a:p>
        </p:txBody>
      </p:sp>
      <p:sp>
        <p:nvSpPr>
          <p:cNvPr id="11" name="Text 3"/>
          <p:cNvSpPr/>
          <p:nvPr/>
        </p:nvSpPr>
        <p:spPr>
          <a:xfrm>
            <a:off x="2057400" y="4000500"/>
            <a:ext cx="85725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IFEL en Validación</a:t>
            </a:r>
            <a:endParaRPr lang="en-US" sz="2250" dirty="0"/>
          </a:p>
        </p:txBody>
      </p:sp>
      <p:sp>
        <p:nvSpPr>
          <p:cNvPr id="12" name="Text 4"/>
          <p:cNvSpPr/>
          <p:nvPr/>
        </p:nvSpPr>
        <p:spPr>
          <a:xfrm>
            <a:off x="2057400" y="5219700"/>
            <a:ext cx="8229600" cy="36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Básico de Errores</a:t>
            </a:r>
            <a:endParaRPr lang="en-US" sz="2250" dirty="0"/>
          </a:p>
        </p:txBody>
      </p:sp>
      <p:sp>
        <p:nvSpPr>
          <p:cNvPr id="13" name="Text 5"/>
          <p:cNvSpPr/>
          <p:nvPr/>
        </p:nvSpPr>
        <p:spPr>
          <a:xfrm>
            <a:off x="8029575" y="4752975"/>
            <a:ext cx="3656558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Estas limitaciones representan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oportunidades de mejora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identificadas para futuras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versiones del sistema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2057400" y="1990725"/>
            <a:ext cx="553209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únicamente textual que limita la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interactividad visual para usuarios no técnicos</a:t>
            </a:r>
            <a:endParaRPr lang="en-US" sz="1725" dirty="0"/>
          </a:p>
        </p:txBody>
      </p:sp>
      <p:sp>
        <p:nvSpPr>
          <p:cNvPr id="15" name="Text 7"/>
          <p:cNvSpPr/>
          <p:nvPr/>
        </p:nvSpPr>
        <p:spPr>
          <a:xfrm>
            <a:off x="2057400" y="3219450"/>
            <a:ext cx="60245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librerías de visualización como Matplotlib para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histogramas o diagramas de dispersión</a:t>
            </a:r>
            <a:endParaRPr lang="en-US" sz="1725" dirty="0"/>
          </a:p>
        </p:txBody>
      </p:sp>
      <p:sp>
        <p:nvSpPr>
          <p:cNvPr id="16" name="Text 8"/>
          <p:cNvSpPr/>
          <p:nvPr/>
        </p:nvSpPr>
        <p:spPr>
          <a:xfrm>
            <a:off x="2057400" y="4419600"/>
            <a:ext cx="5867400" cy="58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preliminar que requiere mayor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experimentación y retroalimentación pedagógica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2057400" y="5638800"/>
            <a:ext cx="5888236" cy="58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funcional pero con potencial para mayor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robustez en excepciones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73" y="1947565"/>
            <a:ext cx="4827984" cy="42792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9628" y="466725"/>
            <a:ext cx="1107567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344"/>
              </a:lnSpc>
              <a:buNone/>
            </a:pPr>
            <a:r>
              <a:rPr lang="en-US" sz="4275" b="1" dirty="0">
                <a:solidFill>
                  <a:srgbClr val="0B1A30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Proyección Futura</a:t>
            </a:r>
            <a:endParaRPr lang="en-US" sz="4275" dirty="0"/>
          </a:p>
        </p:txBody>
      </p:sp>
      <p:sp>
        <p:nvSpPr>
          <p:cNvPr id="5" name="Text 1"/>
          <p:cNvSpPr/>
          <p:nvPr/>
        </p:nvSpPr>
        <p:spPr>
          <a:xfrm>
            <a:off x="895350" y="1466850"/>
            <a:ext cx="885825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Visualización de Datos Mejorada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895350" y="2819400"/>
            <a:ext cx="800100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de Usuario Avanzada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895350" y="4171950"/>
            <a:ext cx="800100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Refinamiento del Modelo IFEL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895350" y="5467350"/>
            <a:ext cx="657225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Robustecimiento Técnico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1019175" y="1866900"/>
            <a:ext cx="709314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Integración de librerías gráficas (Matplotlib, Seaborn)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Histogramas de riesgo y gráficos comparativos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Diagramas de dispersión velocidad vs comprensión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19175" y="3209925"/>
            <a:ext cx="688359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Desarrollo de interfaz gráfica (GUI)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Experiencia más accesible para usuarios no técnicos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Reportes visuales intuitivos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19175" y="4562475"/>
            <a:ext cx="536436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Validación con mayor volumen de datos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Colaboración con expertos pedagógicos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Ajuste de parámetros y criterios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19175" y="5857875"/>
            <a:ext cx="515481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Manejo de excepciones más extensivo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Optimización de persistencia de datos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B1A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Mejora en la resiliencia del sistema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267" y="2338536"/>
            <a:ext cx="3474690" cy="311348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53" y="4841677"/>
            <a:ext cx="475357" cy="4799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98" y="4018657"/>
            <a:ext cx="511969" cy="4662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53" y="3140869"/>
            <a:ext cx="499765" cy="5965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" y="2345382"/>
            <a:ext cx="524173" cy="5348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980358" y="419100"/>
            <a:ext cx="6515100" cy="6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087"/>
              </a:lnSpc>
              <a:buNone/>
            </a:pPr>
            <a:r>
              <a:rPr lang="en-US" sz="42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Conclusión</a:t>
            </a:r>
            <a:endParaRPr lang="en-US" sz="4275" dirty="0"/>
          </a:p>
        </p:txBody>
      </p:sp>
      <p:sp>
        <p:nvSpPr>
          <p:cNvPr id="9" name="Text 1"/>
          <p:cNvSpPr/>
          <p:nvPr/>
        </p:nvSpPr>
        <p:spPr>
          <a:xfrm>
            <a:off x="1809750" y="5715000"/>
            <a:ext cx="9492555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216"/>
              </a:lnSpc>
              <a:buNone/>
            </a:pPr>
            <a:r>
              <a:rPr lang="en-US" sz="2400" b="1" dirty="0">
                <a:solidFill>
                  <a:srgbClr val="D269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Contribuye a la optimización del rendimiento académico</a:t>
            </a:r>
            <a:pPr algn="ctr" indent="0" marL="0">
              <a:lnSpc>
                <a:spcPts val="3216"/>
              </a:lnSpc>
              <a:buNone/>
            </a:pPr>
            <a:r>
              <a:rPr lang="en-US" sz="2400" b="1" dirty="0">
                <a:solidFill>
                  <a:srgbClr val="D269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3216"/>
              </a:lnSpc>
              <a:buNone/>
            </a:pPr>
            <a:r>
              <a:rPr lang="en-US" sz="2400" b="1" dirty="0">
                <a:solidFill>
                  <a:srgbClr val="D269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mediante decisiones pedagógicas basadas en datos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3276600" y="1285875"/>
            <a:ext cx="672643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 sistema transforma datos de evaluación en</a:t>
            </a:r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información pedagógica estructurada y accionable</a:t>
            </a:r>
            <a:endParaRPr lang="en-US" sz="1875" dirty="0"/>
          </a:p>
        </p:txBody>
      </p:sp>
      <p:sp>
        <p:nvSpPr>
          <p:cNvPr id="11" name="Text 3"/>
          <p:cNvSpPr/>
          <p:nvPr/>
        </p:nvSpPr>
        <p:spPr>
          <a:xfrm>
            <a:off x="1143000" y="2314575"/>
            <a:ext cx="6858000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94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Automatización Eficiente</a:t>
            </a:r>
            <a:endParaRPr lang="en-US" sz="1875" dirty="0"/>
          </a:p>
        </p:txBody>
      </p:sp>
      <p:sp>
        <p:nvSpPr>
          <p:cNvPr id="12" name="Text 4"/>
          <p:cNvSpPr/>
          <p:nvPr/>
        </p:nvSpPr>
        <p:spPr>
          <a:xfrm>
            <a:off x="1143000" y="3152775"/>
            <a:ext cx="8858250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94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Herramienta de Apoyo Pedagógico</a:t>
            </a:r>
            <a:endParaRPr lang="en-US" sz="1875" dirty="0"/>
          </a:p>
        </p:txBody>
      </p:sp>
      <p:sp>
        <p:nvSpPr>
          <p:cNvPr id="13" name="Text 5"/>
          <p:cNvSpPr/>
          <p:nvPr/>
        </p:nvSpPr>
        <p:spPr>
          <a:xfrm>
            <a:off x="1143000" y="3990975"/>
            <a:ext cx="6000750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94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Modelo IFEL Innovador</a:t>
            </a:r>
            <a:endParaRPr lang="en-US" sz="1875" dirty="0"/>
          </a:p>
        </p:txBody>
      </p:sp>
      <p:sp>
        <p:nvSpPr>
          <p:cNvPr id="14" name="Text 6"/>
          <p:cNvSpPr/>
          <p:nvPr/>
        </p:nvSpPr>
        <p:spPr>
          <a:xfrm>
            <a:off x="1143000" y="4829175"/>
            <a:ext cx="7429500" cy="35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94"/>
              </a:lnSpc>
              <a:buNone/>
            </a:pPr>
            <a:r>
              <a:rPr lang="en-US" sz="1875" b="1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Sólida para Expansión</a:t>
            </a:r>
            <a:endParaRPr lang="en-US" sz="1875" dirty="0"/>
          </a:p>
        </p:txBody>
      </p:sp>
      <p:sp>
        <p:nvSpPr>
          <p:cNvPr id="15" name="Text 7"/>
          <p:cNvSpPr/>
          <p:nvPr/>
        </p:nvSpPr>
        <p:spPr>
          <a:xfrm>
            <a:off x="1323975" y="2657475"/>
            <a:ext cx="16802100" cy="2580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Clasificación de riesgo lector y análisis institucional en tiempo real</a:t>
            </a:r>
            <a:endParaRPr lang="en-US" sz="1575" dirty="0"/>
          </a:p>
        </p:txBody>
      </p:sp>
      <p:sp>
        <p:nvSpPr>
          <p:cNvPr id="16" name="Text 8"/>
          <p:cNvSpPr/>
          <p:nvPr/>
        </p:nvSpPr>
        <p:spPr>
          <a:xfrm>
            <a:off x="1323975" y="3495675"/>
            <a:ext cx="15339060" cy="27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Facilita la identificación temprana de necesidades educativas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1323975" y="4333875"/>
            <a:ext cx="16344900" cy="27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Propuesta en validación para análisis integral de fluidez lectora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1323975" y="5172075"/>
            <a:ext cx="16082010" cy="2580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1620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Fundamento técnico para futuras mejoras en visualización y robustez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2026-02-27T22:57:26Z</dcterms:created>
  <dcterms:modified xsi:type="dcterms:W3CDTF">2026-02-27T22:57:26Z</dcterms:modified>
</cp:coreProperties>
</file>